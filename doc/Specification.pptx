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2" r:id="rId3"/>
    <p:sldId id="256" r:id="rId4"/>
    <p:sldId id="258" r:id="rId5"/>
    <p:sldId id="259" r:id="rId6"/>
    <p:sldId id="260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9" Type="http://schemas.openxmlformats.org/officeDocument/2006/relationships/notesSlide" Target="../notesSlides/notesSlide1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46.xml"/><Relationship Id="rId26" Type="http://schemas.openxmlformats.org/officeDocument/2006/relationships/tags" Target="../tags/tag45.xml"/><Relationship Id="rId25" Type="http://schemas.openxmlformats.org/officeDocument/2006/relationships/tags" Target="../tags/tag44.xml"/><Relationship Id="rId24" Type="http://schemas.openxmlformats.org/officeDocument/2006/relationships/tags" Target="../tags/tag43.xml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tags" Target="../tags/tag21.xml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7.xml.rels><?xml version="1.0" encoding="UTF-8" standalone="yes"?>
<Relationships xmlns="http://schemas.openxmlformats.org/package/2006/relationships"><Relationship Id="rId99" Type="http://schemas.openxmlformats.org/officeDocument/2006/relationships/tags" Target="../tags/tag153.xml"/><Relationship Id="rId98" Type="http://schemas.openxmlformats.org/officeDocument/2006/relationships/tags" Target="../tags/tag152.xml"/><Relationship Id="rId97" Type="http://schemas.openxmlformats.org/officeDocument/2006/relationships/tags" Target="../tags/tag151.xml"/><Relationship Id="rId96" Type="http://schemas.openxmlformats.org/officeDocument/2006/relationships/tags" Target="../tags/tag150.xml"/><Relationship Id="rId95" Type="http://schemas.openxmlformats.org/officeDocument/2006/relationships/tags" Target="../tags/tag149.xml"/><Relationship Id="rId94" Type="http://schemas.openxmlformats.org/officeDocument/2006/relationships/tags" Target="../tags/tag148.xml"/><Relationship Id="rId93" Type="http://schemas.openxmlformats.org/officeDocument/2006/relationships/tags" Target="../tags/tag147.xml"/><Relationship Id="rId92" Type="http://schemas.openxmlformats.org/officeDocument/2006/relationships/tags" Target="../tags/tag146.xml"/><Relationship Id="rId91" Type="http://schemas.openxmlformats.org/officeDocument/2006/relationships/tags" Target="../tags/tag145.xml"/><Relationship Id="rId90" Type="http://schemas.openxmlformats.org/officeDocument/2006/relationships/tags" Target="../tags/tag144.xml"/><Relationship Id="rId9" Type="http://schemas.openxmlformats.org/officeDocument/2006/relationships/tags" Target="../tags/tag63.xml"/><Relationship Id="rId89" Type="http://schemas.openxmlformats.org/officeDocument/2006/relationships/tags" Target="../tags/tag143.xml"/><Relationship Id="rId88" Type="http://schemas.openxmlformats.org/officeDocument/2006/relationships/tags" Target="../tags/tag142.xml"/><Relationship Id="rId87" Type="http://schemas.openxmlformats.org/officeDocument/2006/relationships/tags" Target="../tags/tag141.xml"/><Relationship Id="rId86" Type="http://schemas.openxmlformats.org/officeDocument/2006/relationships/tags" Target="../tags/tag140.xml"/><Relationship Id="rId85" Type="http://schemas.openxmlformats.org/officeDocument/2006/relationships/tags" Target="../tags/tag139.xml"/><Relationship Id="rId84" Type="http://schemas.openxmlformats.org/officeDocument/2006/relationships/tags" Target="../tags/tag138.xml"/><Relationship Id="rId83" Type="http://schemas.openxmlformats.org/officeDocument/2006/relationships/tags" Target="../tags/tag137.xml"/><Relationship Id="rId82" Type="http://schemas.openxmlformats.org/officeDocument/2006/relationships/tags" Target="../tags/tag136.xml"/><Relationship Id="rId81" Type="http://schemas.openxmlformats.org/officeDocument/2006/relationships/tags" Target="../tags/tag135.xml"/><Relationship Id="rId80" Type="http://schemas.openxmlformats.org/officeDocument/2006/relationships/tags" Target="../tags/tag134.xml"/><Relationship Id="rId8" Type="http://schemas.openxmlformats.org/officeDocument/2006/relationships/tags" Target="../tags/tag62.xml"/><Relationship Id="rId79" Type="http://schemas.openxmlformats.org/officeDocument/2006/relationships/tags" Target="../tags/tag133.xml"/><Relationship Id="rId78" Type="http://schemas.openxmlformats.org/officeDocument/2006/relationships/tags" Target="../tags/tag132.xml"/><Relationship Id="rId77" Type="http://schemas.openxmlformats.org/officeDocument/2006/relationships/tags" Target="../tags/tag131.xml"/><Relationship Id="rId76" Type="http://schemas.openxmlformats.org/officeDocument/2006/relationships/tags" Target="../tags/tag130.xml"/><Relationship Id="rId75" Type="http://schemas.openxmlformats.org/officeDocument/2006/relationships/tags" Target="../tags/tag129.xml"/><Relationship Id="rId74" Type="http://schemas.openxmlformats.org/officeDocument/2006/relationships/tags" Target="../tags/tag128.xml"/><Relationship Id="rId73" Type="http://schemas.openxmlformats.org/officeDocument/2006/relationships/tags" Target="../tags/tag127.xml"/><Relationship Id="rId72" Type="http://schemas.openxmlformats.org/officeDocument/2006/relationships/tags" Target="../tags/tag126.xml"/><Relationship Id="rId71" Type="http://schemas.openxmlformats.org/officeDocument/2006/relationships/tags" Target="../tags/tag125.xml"/><Relationship Id="rId70" Type="http://schemas.openxmlformats.org/officeDocument/2006/relationships/tags" Target="../tags/tag124.xml"/><Relationship Id="rId7" Type="http://schemas.openxmlformats.org/officeDocument/2006/relationships/tags" Target="../tags/tag61.xml"/><Relationship Id="rId69" Type="http://schemas.openxmlformats.org/officeDocument/2006/relationships/tags" Target="../tags/tag123.xml"/><Relationship Id="rId68" Type="http://schemas.openxmlformats.org/officeDocument/2006/relationships/tags" Target="../tags/tag122.xml"/><Relationship Id="rId67" Type="http://schemas.openxmlformats.org/officeDocument/2006/relationships/tags" Target="../tags/tag121.xml"/><Relationship Id="rId66" Type="http://schemas.openxmlformats.org/officeDocument/2006/relationships/tags" Target="../tags/tag120.xml"/><Relationship Id="rId65" Type="http://schemas.openxmlformats.org/officeDocument/2006/relationships/tags" Target="../tags/tag119.xml"/><Relationship Id="rId64" Type="http://schemas.openxmlformats.org/officeDocument/2006/relationships/tags" Target="../tags/tag118.xml"/><Relationship Id="rId63" Type="http://schemas.openxmlformats.org/officeDocument/2006/relationships/tags" Target="../tags/tag117.xml"/><Relationship Id="rId62" Type="http://schemas.openxmlformats.org/officeDocument/2006/relationships/tags" Target="../tags/tag116.xml"/><Relationship Id="rId61" Type="http://schemas.openxmlformats.org/officeDocument/2006/relationships/tags" Target="../tags/tag115.xml"/><Relationship Id="rId60" Type="http://schemas.openxmlformats.org/officeDocument/2006/relationships/tags" Target="../tags/tag114.xml"/><Relationship Id="rId6" Type="http://schemas.openxmlformats.org/officeDocument/2006/relationships/tags" Target="../tags/tag60.xml"/><Relationship Id="rId59" Type="http://schemas.openxmlformats.org/officeDocument/2006/relationships/tags" Target="../tags/tag113.xml"/><Relationship Id="rId58" Type="http://schemas.openxmlformats.org/officeDocument/2006/relationships/tags" Target="../tags/tag112.xml"/><Relationship Id="rId57" Type="http://schemas.openxmlformats.org/officeDocument/2006/relationships/tags" Target="../tags/tag111.xml"/><Relationship Id="rId56" Type="http://schemas.openxmlformats.org/officeDocument/2006/relationships/tags" Target="../tags/tag110.xml"/><Relationship Id="rId55" Type="http://schemas.openxmlformats.org/officeDocument/2006/relationships/tags" Target="../tags/tag109.xml"/><Relationship Id="rId54" Type="http://schemas.openxmlformats.org/officeDocument/2006/relationships/tags" Target="../tags/tag108.xml"/><Relationship Id="rId53" Type="http://schemas.openxmlformats.org/officeDocument/2006/relationships/tags" Target="../tags/tag107.xml"/><Relationship Id="rId52" Type="http://schemas.openxmlformats.org/officeDocument/2006/relationships/tags" Target="../tags/tag106.xml"/><Relationship Id="rId51" Type="http://schemas.openxmlformats.org/officeDocument/2006/relationships/tags" Target="../tags/tag105.xml"/><Relationship Id="rId50" Type="http://schemas.openxmlformats.org/officeDocument/2006/relationships/tags" Target="../tags/tag104.xml"/><Relationship Id="rId5" Type="http://schemas.openxmlformats.org/officeDocument/2006/relationships/tags" Target="../tags/tag59.xml"/><Relationship Id="rId49" Type="http://schemas.openxmlformats.org/officeDocument/2006/relationships/tags" Target="../tags/tag103.xml"/><Relationship Id="rId48" Type="http://schemas.openxmlformats.org/officeDocument/2006/relationships/tags" Target="../tags/tag102.xml"/><Relationship Id="rId47" Type="http://schemas.openxmlformats.org/officeDocument/2006/relationships/tags" Target="../tags/tag101.xml"/><Relationship Id="rId46" Type="http://schemas.openxmlformats.org/officeDocument/2006/relationships/tags" Target="../tags/tag100.xml"/><Relationship Id="rId45" Type="http://schemas.openxmlformats.org/officeDocument/2006/relationships/tags" Target="../tags/tag99.xml"/><Relationship Id="rId44" Type="http://schemas.openxmlformats.org/officeDocument/2006/relationships/tags" Target="../tags/tag98.xml"/><Relationship Id="rId43" Type="http://schemas.openxmlformats.org/officeDocument/2006/relationships/tags" Target="../tags/tag97.xml"/><Relationship Id="rId42" Type="http://schemas.openxmlformats.org/officeDocument/2006/relationships/tags" Target="../tags/tag96.xml"/><Relationship Id="rId41" Type="http://schemas.openxmlformats.org/officeDocument/2006/relationships/tags" Target="../tags/tag95.xml"/><Relationship Id="rId40" Type="http://schemas.openxmlformats.org/officeDocument/2006/relationships/tags" Target="../tags/tag94.xml"/><Relationship Id="rId4" Type="http://schemas.openxmlformats.org/officeDocument/2006/relationships/tags" Target="../tags/tag58.xml"/><Relationship Id="rId39" Type="http://schemas.openxmlformats.org/officeDocument/2006/relationships/tags" Target="../tags/tag93.xml"/><Relationship Id="rId38" Type="http://schemas.openxmlformats.org/officeDocument/2006/relationships/tags" Target="../tags/tag92.xml"/><Relationship Id="rId37" Type="http://schemas.openxmlformats.org/officeDocument/2006/relationships/tags" Target="../tags/tag91.xml"/><Relationship Id="rId36" Type="http://schemas.openxmlformats.org/officeDocument/2006/relationships/tags" Target="../tags/tag90.xml"/><Relationship Id="rId35" Type="http://schemas.openxmlformats.org/officeDocument/2006/relationships/tags" Target="../tags/tag89.xml"/><Relationship Id="rId34" Type="http://schemas.openxmlformats.org/officeDocument/2006/relationships/tags" Target="../tags/tag88.xml"/><Relationship Id="rId33" Type="http://schemas.openxmlformats.org/officeDocument/2006/relationships/tags" Target="../tags/tag87.xml"/><Relationship Id="rId32" Type="http://schemas.openxmlformats.org/officeDocument/2006/relationships/tags" Target="../tags/tag86.xml"/><Relationship Id="rId31" Type="http://schemas.openxmlformats.org/officeDocument/2006/relationships/tags" Target="../tags/tag85.xml"/><Relationship Id="rId30" Type="http://schemas.openxmlformats.org/officeDocument/2006/relationships/tags" Target="../tags/tag84.xml"/><Relationship Id="rId3" Type="http://schemas.openxmlformats.org/officeDocument/2006/relationships/tags" Target="../tags/tag57.xml"/><Relationship Id="rId29" Type="http://schemas.openxmlformats.org/officeDocument/2006/relationships/tags" Target="../tags/tag83.xml"/><Relationship Id="rId28" Type="http://schemas.openxmlformats.org/officeDocument/2006/relationships/tags" Target="../tags/tag82.xml"/><Relationship Id="rId27" Type="http://schemas.openxmlformats.org/officeDocument/2006/relationships/tags" Target="../tags/tag81.xml"/><Relationship Id="rId26" Type="http://schemas.openxmlformats.org/officeDocument/2006/relationships/tags" Target="../tags/tag80.xml"/><Relationship Id="rId25" Type="http://schemas.openxmlformats.org/officeDocument/2006/relationships/tags" Target="../tags/tag79.xml"/><Relationship Id="rId24" Type="http://schemas.openxmlformats.org/officeDocument/2006/relationships/tags" Target="../tags/tag78.xml"/><Relationship Id="rId23" Type="http://schemas.openxmlformats.org/officeDocument/2006/relationships/tags" Target="../tags/tag77.xml"/><Relationship Id="rId22" Type="http://schemas.openxmlformats.org/officeDocument/2006/relationships/tags" Target="../tags/tag76.xml"/><Relationship Id="rId21" Type="http://schemas.openxmlformats.org/officeDocument/2006/relationships/tags" Target="../tags/tag75.xml"/><Relationship Id="rId20" Type="http://schemas.openxmlformats.org/officeDocument/2006/relationships/tags" Target="../tags/tag74.xml"/><Relationship Id="rId2" Type="http://schemas.openxmlformats.org/officeDocument/2006/relationships/tags" Target="../tags/tag56.xml"/><Relationship Id="rId19" Type="http://schemas.openxmlformats.org/officeDocument/2006/relationships/tags" Target="../tags/tag73.xml"/><Relationship Id="rId18" Type="http://schemas.openxmlformats.org/officeDocument/2006/relationships/tags" Target="../tags/tag72.xml"/><Relationship Id="rId173" Type="http://schemas.openxmlformats.org/officeDocument/2006/relationships/slideLayout" Target="../slideLayouts/slideLayout2.xml"/><Relationship Id="rId172" Type="http://schemas.openxmlformats.org/officeDocument/2006/relationships/tags" Target="../tags/tag226.xml"/><Relationship Id="rId171" Type="http://schemas.openxmlformats.org/officeDocument/2006/relationships/tags" Target="../tags/tag225.xml"/><Relationship Id="rId170" Type="http://schemas.openxmlformats.org/officeDocument/2006/relationships/tags" Target="../tags/tag224.xml"/><Relationship Id="rId17" Type="http://schemas.openxmlformats.org/officeDocument/2006/relationships/tags" Target="../tags/tag71.xml"/><Relationship Id="rId169" Type="http://schemas.openxmlformats.org/officeDocument/2006/relationships/tags" Target="../tags/tag223.xml"/><Relationship Id="rId168" Type="http://schemas.openxmlformats.org/officeDocument/2006/relationships/tags" Target="../tags/tag222.xml"/><Relationship Id="rId167" Type="http://schemas.openxmlformats.org/officeDocument/2006/relationships/tags" Target="../tags/tag221.xml"/><Relationship Id="rId166" Type="http://schemas.openxmlformats.org/officeDocument/2006/relationships/tags" Target="../tags/tag220.xml"/><Relationship Id="rId165" Type="http://schemas.openxmlformats.org/officeDocument/2006/relationships/tags" Target="../tags/tag219.xml"/><Relationship Id="rId164" Type="http://schemas.openxmlformats.org/officeDocument/2006/relationships/tags" Target="../tags/tag218.xml"/><Relationship Id="rId163" Type="http://schemas.openxmlformats.org/officeDocument/2006/relationships/tags" Target="../tags/tag217.xml"/><Relationship Id="rId162" Type="http://schemas.openxmlformats.org/officeDocument/2006/relationships/tags" Target="../tags/tag216.xml"/><Relationship Id="rId161" Type="http://schemas.openxmlformats.org/officeDocument/2006/relationships/tags" Target="../tags/tag215.xml"/><Relationship Id="rId160" Type="http://schemas.openxmlformats.org/officeDocument/2006/relationships/tags" Target="../tags/tag214.xml"/><Relationship Id="rId16" Type="http://schemas.openxmlformats.org/officeDocument/2006/relationships/tags" Target="../tags/tag70.xml"/><Relationship Id="rId159" Type="http://schemas.openxmlformats.org/officeDocument/2006/relationships/tags" Target="../tags/tag213.xml"/><Relationship Id="rId158" Type="http://schemas.openxmlformats.org/officeDocument/2006/relationships/tags" Target="../tags/tag212.xml"/><Relationship Id="rId157" Type="http://schemas.openxmlformats.org/officeDocument/2006/relationships/tags" Target="../tags/tag211.xml"/><Relationship Id="rId156" Type="http://schemas.openxmlformats.org/officeDocument/2006/relationships/tags" Target="../tags/tag210.xml"/><Relationship Id="rId155" Type="http://schemas.openxmlformats.org/officeDocument/2006/relationships/tags" Target="../tags/tag209.xml"/><Relationship Id="rId154" Type="http://schemas.openxmlformats.org/officeDocument/2006/relationships/tags" Target="../tags/tag208.xml"/><Relationship Id="rId153" Type="http://schemas.openxmlformats.org/officeDocument/2006/relationships/tags" Target="../tags/tag207.xml"/><Relationship Id="rId152" Type="http://schemas.openxmlformats.org/officeDocument/2006/relationships/tags" Target="../tags/tag206.xml"/><Relationship Id="rId151" Type="http://schemas.openxmlformats.org/officeDocument/2006/relationships/tags" Target="../tags/tag205.xml"/><Relationship Id="rId150" Type="http://schemas.openxmlformats.org/officeDocument/2006/relationships/tags" Target="../tags/tag204.xml"/><Relationship Id="rId15" Type="http://schemas.openxmlformats.org/officeDocument/2006/relationships/tags" Target="../tags/tag69.xml"/><Relationship Id="rId149" Type="http://schemas.openxmlformats.org/officeDocument/2006/relationships/tags" Target="../tags/tag203.xml"/><Relationship Id="rId148" Type="http://schemas.openxmlformats.org/officeDocument/2006/relationships/tags" Target="../tags/tag202.xml"/><Relationship Id="rId147" Type="http://schemas.openxmlformats.org/officeDocument/2006/relationships/tags" Target="../tags/tag201.xml"/><Relationship Id="rId146" Type="http://schemas.openxmlformats.org/officeDocument/2006/relationships/tags" Target="../tags/tag200.xml"/><Relationship Id="rId145" Type="http://schemas.openxmlformats.org/officeDocument/2006/relationships/tags" Target="../tags/tag199.xml"/><Relationship Id="rId144" Type="http://schemas.openxmlformats.org/officeDocument/2006/relationships/tags" Target="../tags/tag198.xml"/><Relationship Id="rId143" Type="http://schemas.openxmlformats.org/officeDocument/2006/relationships/tags" Target="../tags/tag197.xml"/><Relationship Id="rId142" Type="http://schemas.openxmlformats.org/officeDocument/2006/relationships/tags" Target="../tags/tag196.xml"/><Relationship Id="rId141" Type="http://schemas.openxmlformats.org/officeDocument/2006/relationships/tags" Target="../tags/tag195.xml"/><Relationship Id="rId140" Type="http://schemas.openxmlformats.org/officeDocument/2006/relationships/tags" Target="../tags/tag194.xml"/><Relationship Id="rId14" Type="http://schemas.openxmlformats.org/officeDocument/2006/relationships/tags" Target="../tags/tag68.xml"/><Relationship Id="rId139" Type="http://schemas.openxmlformats.org/officeDocument/2006/relationships/tags" Target="../tags/tag193.xml"/><Relationship Id="rId138" Type="http://schemas.openxmlformats.org/officeDocument/2006/relationships/tags" Target="../tags/tag192.xml"/><Relationship Id="rId137" Type="http://schemas.openxmlformats.org/officeDocument/2006/relationships/tags" Target="../tags/tag191.xml"/><Relationship Id="rId136" Type="http://schemas.openxmlformats.org/officeDocument/2006/relationships/tags" Target="../tags/tag190.xml"/><Relationship Id="rId135" Type="http://schemas.openxmlformats.org/officeDocument/2006/relationships/tags" Target="../tags/tag189.xml"/><Relationship Id="rId134" Type="http://schemas.openxmlformats.org/officeDocument/2006/relationships/tags" Target="../tags/tag188.xml"/><Relationship Id="rId133" Type="http://schemas.openxmlformats.org/officeDocument/2006/relationships/tags" Target="../tags/tag187.xml"/><Relationship Id="rId132" Type="http://schemas.openxmlformats.org/officeDocument/2006/relationships/tags" Target="../tags/tag186.xml"/><Relationship Id="rId131" Type="http://schemas.openxmlformats.org/officeDocument/2006/relationships/tags" Target="../tags/tag185.xml"/><Relationship Id="rId130" Type="http://schemas.openxmlformats.org/officeDocument/2006/relationships/tags" Target="../tags/tag184.xml"/><Relationship Id="rId13" Type="http://schemas.openxmlformats.org/officeDocument/2006/relationships/tags" Target="../tags/tag67.xml"/><Relationship Id="rId129" Type="http://schemas.openxmlformats.org/officeDocument/2006/relationships/tags" Target="../tags/tag183.xml"/><Relationship Id="rId128" Type="http://schemas.openxmlformats.org/officeDocument/2006/relationships/tags" Target="../tags/tag182.xml"/><Relationship Id="rId127" Type="http://schemas.openxmlformats.org/officeDocument/2006/relationships/tags" Target="../tags/tag181.xml"/><Relationship Id="rId126" Type="http://schemas.openxmlformats.org/officeDocument/2006/relationships/tags" Target="../tags/tag180.xml"/><Relationship Id="rId125" Type="http://schemas.openxmlformats.org/officeDocument/2006/relationships/tags" Target="../tags/tag179.xml"/><Relationship Id="rId124" Type="http://schemas.openxmlformats.org/officeDocument/2006/relationships/tags" Target="../tags/tag178.xml"/><Relationship Id="rId123" Type="http://schemas.openxmlformats.org/officeDocument/2006/relationships/tags" Target="../tags/tag177.xml"/><Relationship Id="rId122" Type="http://schemas.openxmlformats.org/officeDocument/2006/relationships/tags" Target="../tags/tag176.xml"/><Relationship Id="rId121" Type="http://schemas.openxmlformats.org/officeDocument/2006/relationships/tags" Target="../tags/tag175.xml"/><Relationship Id="rId120" Type="http://schemas.openxmlformats.org/officeDocument/2006/relationships/tags" Target="../tags/tag174.xml"/><Relationship Id="rId12" Type="http://schemas.openxmlformats.org/officeDocument/2006/relationships/tags" Target="../tags/tag66.xml"/><Relationship Id="rId119" Type="http://schemas.openxmlformats.org/officeDocument/2006/relationships/tags" Target="../tags/tag173.xml"/><Relationship Id="rId118" Type="http://schemas.openxmlformats.org/officeDocument/2006/relationships/tags" Target="../tags/tag172.xml"/><Relationship Id="rId117" Type="http://schemas.openxmlformats.org/officeDocument/2006/relationships/tags" Target="../tags/tag171.xml"/><Relationship Id="rId116" Type="http://schemas.openxmlformats.org/officeDocument/2006/relationships/tags" Target="../tags/tag170.xml"/><Relationship Id="rId115" Type="http://schemas.openxmlformats.org/officeDocument/2006/relationships/tags" Target="../tags/tag169.xml"/><Relationship Id="rId114" Type="http://schemas.openxmlformats.org/officeDocument/2006/relationships/tags" Target="../tags/tag168.xml"/><Relationship Id="rId113" Type="http://schemas.openxmlformats.org/officeDocument/2006/relationships/tags" Target="../tags/tag167.xml"/><Relationship Id="rId112" Type="http://schemas.openxmlformats.org/officeDocument/2006/relationships/tags" Target="../tags/tag166.xml"/><Relationship Id="rId111" Type="http://schemas.openxmlformats.org/officeDocument/2006/relationships/tags" Target="../tags/tag165.xml"/><Relationship Id="rId110" Type="http://schemas.openxmlformats.org/officeDocument/2006/relationships/tags" Target="../tags/tag164.xml"/><Relationship Id="rId11" Type="http://schemas.openxmlformats.org/officeDocument/2006/relationships/tags" Target="../tags/tag65.xml"/><Relationship Id="rId109" Type="http://schemas.openxmlformats.org/officeDocument/2006/relationships/tags" Target="../tags/tag163.xml"/><Relationship Id="rId108" Type="http://schemas.openxmlformats.org/officeDocument/2006/relationships/tags" Target="../tags/tag162.xml"/><Relationship Id="rId107" Type="http://schemas.openxmlformats.org/officeDocument/2006/relationships/tags" Target="../tags/tag161.xml"/><Relationship Id="rId106" Type="http://schemas.openxmlformats.org/officeDocument/2006/relationships/tags" Target="../tags/tag160.xml"/><Relationship Id="rId105" Type="http://schemas.openxmlformats.org/officeDocument/2006/relationships/tags" Target="../tags/tag159.xml"/><Relationship Id="rId104" Type="http://schemas.openxmlformats.org/officeDocument/2006/relationships/tags" Target="../tags/tag158.xml"/><Relationship Id="rId103" Type="http://schemas.openxmlformats.org/officeDocument/2006/relationships/tags" Target="../tags/tag157.xml"/><Relationship Id="rId102" Type="http://schemas.openxmlformats.org/officeDocument/2006/relationships/tags" Target="../tags/tag156.xml"/><Relationship Id="rId101" Type="http://schemas.openxmlformats.org/officeDocument/2006/relationships/tags" Target="../tags/tag155.xml"/><Relationship Id="rId100" Type="http://schemas.openxmlformats.org/officeDocument/2006/relationships/tags" Target="../tags/tag154.xml"/><Relationship Id="rId10" Type="http://schemas.openxmlformats.org/officeDocument/2006/relationships/tags" Target="../tags/tag64.xml"/><Relationship Id="rId1" Type="http://schemas.openxmlformats.org/officeDocument/2006/relationships/tags" Target="../tags/tag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0" y="200660"/>
            <a:ext cx="121913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000" b="1"/>
              <a:t>8 BIT TIMER SPECIFICATION </a:t>
            </a:r>
            <a:endParaRPr lang="en-US" sz="4000" b="1"/>
          </a:p>
        </p:txBody>
      </p:sp>
      <p:sp>
        <p:nvSpPr>
          <p:cNvPr id="2" name="Rectangles 1"/>
          <p:cNvSpPr/>
          <p:nvPr/>
        </p:nvSpPr>
        <p:spPr>
          <a:xfrm>
            <a:off x="3021965" y="1431925"/>
            <a:ext cx="1683385" cy="21577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016250" y="1417955"/>
            <a:ext cx="1693545" cy="217170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pPr algn="ctr"/>
            <a:endParaRPr lang="en-US" b="1">
              <a:solidFill>
                <a:srgbClr val="FF0000"/>
              </a:solidFill>
            </a:endParaRPr>
          </a:p>
          <a:p>
            <a:pPr algn="ctr"/>
            <a:endParaRPr lang="en-US" b="1">
              <a:solidFill>
                <a:srgbClr val="FF0000"/>
              </a:solidFill>
            </a:endParaRPr>
          </a:p>
          <a:p>
            <a:pPr algn="ctr"/>
            <a:endParaRPr lang="en-US" b="1">
              <a:solidFill>
                <a:srgbClr val="FF0000"/>
              </a:solidFill>
            </a:endParaRPr>
          </a:p>
          <a:p>
            <a:pPr algn="ctr"/>
            <a:r>
              <a:rPr lang="en-US" b="1">
                <a:solidFill>
                  <a:srgbClr val="FF0000"/>
                </a:solidFill>
              </a:rPr>
              <a:t>Clock Select</a:t>
            </a:r>
            <a:endParaRPr lang="en-US" b="1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217420" y="2510790"/>
            <a:ext cx="804545" cy="317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2072005" y="2142490"/>
            <a:ext cx="949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clk[3:0]</a:t>
            </a:r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719320" y="2513965"/>
            <a:ext cx="804545" cy="317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4646930" y="2145665"/>
            <a:ext cx="949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clk_ena</a:t>
            </a:r>
            <a:endParaRPr lang="en-US"/>
          </a:p>
        </p:txBody>
      </p:sp>
      <p:sp>
        <p:nvSpPr>
          <p:cNvPr id="14" name="Rectangles 13"/>
          <p:cNvSpPr/>
          <p:nvPr/>
        </p:nvSpPr>
        <p:spPr>
          <a:xfrm>
            <a:off x="5537835" y="1431925"/>
            <a:ext cx="1683385" cy="35159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5532755" y="1431290"/>
            <a:ext cx="1685925" cy="35166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pPr algn="ctr"/>
            <a:endParaRPr lang="en-US" b="1">
              <a:solidFill>
                <a:srgbClr val="FF0000"/>
              </a:solidFill>
            </a:endParaRPr>
          </a:p>
          <a:p>
            <a:pPr algn="ctr"/>
            <a:endParaRPr lang="en-US" b="1">
              <a:solidFill>
                <a:srgbClr val="FF0000"/>
              </a:solidFill>
            </a:endParaRPr>
          </a:p>
          <a:p>
            <a:pPr algn="ctr"/>
            <a:endParaRPr lang="en-US" b="1">
              <a:solidFill>
                <a:srgbClr val="FF0000"/>
              </a:solidFill>
            </a:endParaRPr>
          </a:p>
          <a:p>
            <a:pPr algn="ctr"/>
            <a:endParaRPr lang="en-US" b="1">
              <a:solidFill>
                <a:srgbClr val="FF0000"/>
              </a:solidFill>
            </a:endParaRPr>
          </a:p>
          <a:p>
            <a:pPr algn="ctr"/>
            <a:endParaRPr lang="en-US" b="1">
              <a:solidFill>
                <a:srgbClr val="FF0000"/>
              </a:solidFill>
            </a:endParaRPr>
          </a:p>
          <a:p>
            <a:pPr algn="ctr"/>
            <a:r>
              <a:rPr lang="en-US" b="1">
                <a:solidFill>
                  <a:srgbClr val="FF0000"/>
                </a:solidFill>
              </a:rPr>
              <a:t>TCNT</a:t>
            </a:r>
            <a:endParaRPr lang="en-US" b="1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244340" y="3591560"/>
            <a:ext cx="3810" cy="196723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4244340" y="3805555"/>
            <a:ext cx="9067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clk_sel[1:0]</a:t>
            </a:r>
            <a:endParaRPr lang="en-US"/>
          </a:p>
        </p:txBody>
      </p:sp>
      <p:sp>
        <p:nvSpPr>
          <p:cNvPr id="20" name="Rectangles 19"/>
          <p:cNvSpPr/>
          <p:nvPr/>
        </p:nvSpPr>
        <p:spPr>
          <a:xfrm>
            <a:off x="8053705" y="1431925"/>
            <a:ext cx="1683385" cy="35159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8053705" y="1431925"/>
            <a:ext cx="1682750" cy="57785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pPr algn="ctr"/>
            <a:r>
              <a:rPr lang="en-US" b="1">
                <a:solidFill>
                  <a:srgbClr val="FF0000"/>
                </a:solidFill>
              </a:rPr>
              <a:t>Read/Write</a:t>
            </a:r>
            <a:endParaRPr lang="en-US" b="1">
              <a:solidFill>
                <a:srgbClr val="FF0000"/>
              </a:solidFill>
            </a:endParaRPr>
          </a:p>
          <a:p>
            <a:pPr algn="ctr"/>
            <a:r>
              <a:rPr lang="en-US" b="1">
                <a:solidFill>
                  <a:srgbClr val="FF0000"/>
                </a:solidFill>
              </a:rPr>
              <a:t>Control</a:t>
            </a:r>
            <a:endParaRPr lang="en-US" b="1">
              <a:solidFill>
                <a:srgbClr val="FF0000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8054340" y="2004060"/>
            <a:ext cx="168275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10800000" flipV="1">
            <a:off x="7242175" y="2424430"/>
            <a:ext cx="804545" cy="317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Text Box 25"/>
          <p:cNvSpPr txBox="1"/>
          <p:nvPr/>
        </p:nvSpPr>
        <p:spPr>
          <a:xfrm>
            <a:off x="7218045" y="2056130"/>
            <a:ext cx="895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cnt</a:t>
            </a:r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 rot="10800000" flipV="1">
            <a:off x="7237095" y="2985770"/>
            <a:ext cx="804545" cy="317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30440" y="2620645"/>
            <a:ext cx="902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load</a:t>
            </a:r>
            <a:endParaRPr lang="en-US"/>
          </a:p>
        </p:txBody>
      </p:sp>
      <p:cxnSp>
        <p:nvCxnSpPr>
          <p:cNvPr id="29" name="Straight Arrow Connector 28"/>
          <p:cNvCxnSpPr/>
          <p:nvPr/>
        </p:nvCxnSpPr>
        <p:spPr>
          <a:xfrm rot="10800000" flipV="1">
            <a:off x="7237095" y="3423285"/>
            <a:ext cx="804545" cy="317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Text Box 29"/>
          <p:cNvSpPr txBox="1"/>
          <p:nvPr/>
        </p:nvSpPr>
        <p:spPr>
          <a:xfrm>
            <a:off x="7282815" y="3058160"/>
            <a:ext cx="949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up_dw</a:t>
            </a:r>
            <a:endParaRPr lang="en-US"/>
          </a:p>
        </p:txBody>
      </p:sp>
      <p:cxnSp>
        <p:nvCxnSpPr>
          <p:cNvPr id="31" name="Straight Arrow Connector 30"/>
          <p:cNvCxnSpPr/>
          <p:nvPr/>
        </p:nvCxnSpPr>
        <p:spPr>
          <a:xfrm rot="10800000" flipV="1">
            <a:off x="7237095" y="3860800"/>
            <a:ext cx="804545" cy="317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Text Box 31"/>
          <p:cNvSpPr txBox="1"/>
          <p:nvPr/>
        </p:nvSpPr>
        <p:spPr>
          <a:xfrm>
            <a:off x="7412990" y="3495675"/>
            <a:ext cx="454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en</a:t>
            </a:r>
            <a:endParaRPr lang="en-US"/>
          </a:p>
        </p:txBody>
      </p:sp>
      <p:sp>
        <p:nvSpPr>
          <p:cNvPr id="36" name="Text Box 35"/>
          <p:cNvSpPr txBox="1"/>
          <p:nvPr/>
        </p:nvSpPr>
        <p:spPr>
          <a:xfrm>
            <a:off x="7164070" y="3908425"/>
            <a:ext cx="949960" cy="264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/>
              <a:t>ovf</a:t>
            </a:r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7164070" y="4330065"/>
            <a:ext cx="949960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/>
              <a:t>udf</a:t>
            </a:r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8054340" y="2882265"/>
            <a:ext cx="168275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8045450" y="4012565"/>
            <a:ext cx="168275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Text Box 42"/>
          <p:cNvSpPr txBox="1"/>
          <p:nvPr/>
        </p:nvSpPr>
        <p:spPr>
          <a:xfrm>
            <a:off x="8057515" y="2102485"/>
            <a:ext cx="1682750" cy="770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b="1"/>
              <a:t>TDR</a:t>
            </a:r>
            <a:endParaRPr lang="en-US" b="1"/>
          </a:p>
          <a:p>
            <a:pPr algn="ctr"/>
            <a:r>
              <a:rPr lang="en-US" b="1"/>
              <a:t>0x0</a:t>
            </a:r>
            <a:endParaRPr lang="en-US" b="1"/>
          </a:p>
        </p:txBody>
      </p:sp>
      <p:sp>
        <p:nvSpPr>
          <p:cNvPr id="44" name="Text Box 43"/>
          <p:cNvSpPr txBox="1"/>
          <p:nvPr/>
        </p:nvSpPr>
        <p:spPr>
          <a:xfrm>
            <a:off x="8042910" y="3138170"/>
            <a:ext cx="1682750" cy="770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b="1"/>
              <a:t>TCR</a:t>
            </a:r>
            <a:endParaRPr lang="en-US" b="1"/>
          </a:p>
          <a:p>
            <a:pPr algn="ctr"/>
            <a:r>
              <a:rPr lang="en-US" b="1"/>
              <a:t>0x1</a:t>
            </a:r>
            <a:endParaRPr lang="en-US" b="1"/>
          </a:p>
        </p:txBody>
      </p:sp>
      <p:sp>
        <p:nvSpPr>
          <p:cNvPr id="45" name="Text Box 44"/>
          <p:cNvSpPr txBox="1"/>
          <p:nvPr/>
        </p:nvSpPr>
        <p:spPr>
          <a:xfrm>
            <a:off x="8028305" y="4173855"/>
            <a:ext cx="1682750" cy="770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b="1"/>
              <a:t>TSR</a:t>
            </a:r>
            <a:endParaRPr lang="en-US" b="1"/>
          </a:p>
          <a:p>
            <a:pPr algn="ctr"/>
            <a:r>
              <a:rPr lang="en-US" b="1"/>
              <a:t>0x2</a:t>
            </a:r>
            <a:endParaRPr lang="en-US" b="1"/>
          </a:p>
        </p:txBody>
      </p:sp>
      <p:cxnSp>
        <p:nvCxnSpPr>
          <p:cNvPr id="49" name="Straight Connector 48"/>
          <p:cNvCxnSpPr/>
          <p:nvPr/>
        </p:nvCxnSpPr>
        <p:spPr>
          <a:xfrm>
            <a:off x="9742805" y="3518535"/>
            <a:ext cx="1051560" cy="0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10788650" y="3526790"/>
            <a:ext cx="11430" cy="2052955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4251325" y="5556250"/>
            <a:ext cx="6539230" cy="18415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7224395" y="4265295"/>
            <a:ext cx="821055" cy="190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headEnd type="arrow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7226935" y="4668520"/>
            <a:ext cx="821055" cy="190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headEnd type="arrow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Rectangles 53"/>
          <p:cNvSpPr/>
          <p:nvPr/>
        </p:nvSpPr>
        <p:spPr>
          <a:xfrm>
            <a:off x="1923415" y="1005840"/>
            <a:ext cx="9234170" cy="55619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55" name="Straight Connector 54"/>
          <p:cNvCxnSpPr/>
          <p:nvPr/>
        </p:nvCxnSpPr>
        <p:spPr>
          <a:xfrm>
            <a:off x="785495" y="5844540"/>
            <a:ext cx="7892415" cy="0"/>
          </a:xfrm>
          <a:prstGeom prst="line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8672195" y="4959985"/>
            <a:ext cx="4445" cy="871855"/>
          </a:xfrm>
          <a:prstGeom prst="straightConnector1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 flipV="1">
            <a:off x="6379845" y="4944110"/>
            <a:ext cx="1905" cy="883920"/>
          </a:xfrm>
          <a:prstGeom prst="straightConnector1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 flipV="1">
            <a:off x="3529965" y="3590290"/>
            <a:ext cx="635" cy="2249170"/>
          </a:xfrm>
          <a:prstGeom prst="straightConnector1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785495" y="6171565"/>
            <a:ext cx="8448675" cy="15240"/>
          </a:xfrm>
          <a:prstGeom prst="line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 flipV="1">
            <a:off x="9227185" y="4940300"/>
            <a:ext cx="5080" cy="1246505"/>
          </a:xfrm>
          <a:prstGeom prst="straightConnector1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Text Box 61"/>
          <p:cNvSpPr txBox="1"/>
          <p:nvPr/>
        </p:nvSpPr>
        <p:spPr>
          <a:xfrm>
            <a:off x="504190" y="5463540"/>
            <a:ext cx="1087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clock</a:t>
            </a:r>
            <a:endParaRPr lang="en-US"/>
          </a:p>
        </p:txBody>
      </p:sp>
      <p:sp>
        <p:nvSpPr>
          <p:cNvPr id="63" name="Text Box 62"/>
          <p:cNvSpPr txBox="1"/>
          <p:nvPr/>
        </p:nvSpPr>
        <p:spPr>
          <a:xfrm>
            <a:off x="503555" y="5844540"/>
            <a:ext cx="1457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rst_n</a:t>
            </a:r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6642100" y="4930775"/>
            <a:ext cx="12700" cy="1240790"/>
          </a:xfrm>
          <a:prstGeom prst="straightConnector1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endCxn id="3" idx="2"/>
          </p:cNvCxnSpPr>
          <p:nvPr/>
        </p:nvCxnSpPr>
        <p:spPr>
          <a:xfrm flipH="1" flipV="1">
            <a:off x="3863340" y="3589655"/>
            <a:ext cx="5715" cy="2581910"/>
          </a:xfrm>
          <a:prstGeom prst="straightConnector1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4025900" y="1832610"/>
            <a:ext cx="7085965" cy="36696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910965" y="2286000"/>
            <a:ext cx="236220" cy="24193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910965" y="3117850"/>
            <a:ext cx="236220" cy="24193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910965" y="3533775"/>
            <a:ext cx="236220" cy="24193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910965" y="2701925"/>
            <a:ext cx="236220" cy="24193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117850" y="4332605"/>
            <a:ext cx="908050" cy="24193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Diagonal Stripe 9"/>
          <p:cNvSpPr/>
          <p:nvPr/>
        </p:nvSpPr>
        <p:spPr>
          <a:xfrm rot="8160000">
            <a:off x="4786630" y="2249805"/>
            <a:ext cx="1696720" cy="1761490"/>
          </a:xfrm>
          <a:prstGeom prst="diagStripe">
            <a:avLst/>
          </a:prstGeom>
          <a:solidFill>
            <a:schemeClr val="bg2"/>
          </a:solidFill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5985510" y="4001135"/>
            <a:ext cx="6991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 b="1">
                <a:latin typeface="Times New Roman" panose="02020603050405020304" charset="0"/>
                <a:cs typeface="Times New Roman" panose="02020603050405020304" charset="0"/>
              </a:rPr>
              <a:t>clk_sel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[1:0]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3118485" y="4332605"/>
            <a:ext cx="9067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TCR [1:0]</a:t>
            </a:r>
            <a:endParaRPr lang="en-US" sz="12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3274060" y="590550"/>
            <a:ext cx="58172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8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Clock Selection Block</a:t>
            </a:r>
            <a:endParaRPr lang="en-US" sz="28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1004550" y="3610610"/>
            <a:ext cx="236220" cy="24193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11111865" y="3359785"/>
            <a:ext cx="7918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clk_ena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8" name="Straight Arrow Connector 37"/>
          <p:cNvCxnSpPr>
            <a:stCxn id="5" idx="3"/>
          </p:cNvCxnSpPr>
          <p:nvPr/>
        </p:nvCxnSpPr>
        <p:spPr>
          <a:xfrm flipV="1">
            <a:off x="4147185" y="2393950"/>
            <a:ext cx="1489710" cy="133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4147185" y="2814320"/>
            <a:ext cx="1489710" cy="133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4147185" y="3234690"/>
            <a:ext cx="1489710" cy="133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4147185" y="3655060"/>
            <a:ext cx="1489710" cy="133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cxnSp>
        <p:nvCxnSpPr>
          <p:cNvPr id="55" name="Elbow Connector 54"/>
          <p:cNvCxnSpPr>
            <a:stCxn id="9" idx="3"/>
          </p:cNvCxnSpPr>
          <p:nvPr/>
        </p:nvCxnSpPr>
        <p:spPr>
          <a:xfrm flipV="1">
            <a:off x="4025900" y="4058920"/>
            <a:ext cx="1915795" cy="394970"/>
          </a:xfrm>
          <a:prstGeom prst="bentConnector2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5713095" y="2252980"/>
            <a:ext cx="431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00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713095" y="3105150"/>
            <a:ext cx="431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10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713095" y="2668905"/>
            <a:ext cx="431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01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5713095" y="3494405"/>
            <a:ext cx="431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11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274060" y="2196465"/>
            <a:ext cx="7969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clk[0]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274060" y="2616835"/>
            <a:ext cx="7969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clk[1]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274060" y="3009265"/>
            <a:ext cx="7969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clk[2]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3274060" y="3444240"/>
            <a:ext cx="7969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clk[3]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Left Brace 23"/>
          <p:cNvSpPr/>
          <p:nvPr/>
        </p:nvSpPr>
        <p:spPr>
          <a:xfrm>
            <a:off x="2976245" y="2393950"/>
            <a:ext cx="240665" cy="1174750"/>
          </a:xfrm>
          <a:prstGeom prst="leftBrac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2181860" y="2805430"/>
            <a:ext cx="7505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/>
              <a:t>clk[3:0]</a:t>
            </a:r>
            <a:endParaRPr lang="en-US" sz="1200" b="1"/>
          </a:p>
        </p:txBody>
      </p:sp>
      <p:sp>
        <p:nvSpPr>
          <p:cNvPr id="27" name="Rounded Rectangle 26"/>
          <p:cNvSpPr/>
          <p:nvPr/>
        </p:nvSpPr>
        <p:spPr>
          <a:xfrm>
            <a:off x="3905885" y="5093970"/>
            <a:ext cx="320040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 Box 27"/>
          <p:cNvSpPr txBox="1"/>
          <p:nvPr>
            <p:custDataLst>
              <p:tags r:id="rId1"/>
            </p:custDataLst>
          </p:nvPr>
        </p:nvSpPr>
        <p:spPr>
          <a:xfrm>
            <a:off x="3027045" y="5092700"/>
            <a:ext cx="9988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clock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905885" y="4714240"/>
            <a:ext cx="320040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 Box 18"/>
          <p:cNvSpPr txBox="1"/>
          <p:nvPr>
            <p:custDataLst>
              <p:tags r:id="rId2"/>
            </p:custDataLst>
          </p:nvPr>
        </p:nvSpPr>
        <p:spPr>
          <a:xfrm>
            <a:off x="3027045" y="4712970"/>
            <a:ext cx="9988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rst_n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9638665" y="3475990"/>
            <a:ext cx="8667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reg_clk_in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6241415" y="3130550"/>
            <a:ext cx="1088390" cy="8255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Rectangles 30"/>
          <p:cNvSpPr/>
          <p:nvPr/>
        </p:nvSpPr>
        <p:spPr>
          <a:xfrm>
            <a:off x="7325995" y="2975610"/>
            <a:ext cx="419100" cy="635000"/>
          </a:xfrm>
          <a:prstGeom prst="rect">
            <a:avLst/>
          </a:prstGeom>
          <a:solidFill>
            <a:schemeClr val="bg2"/>
          </a:solidFill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3" name="Elbow Connector 32"/>
          <p:cNvCxnSpPr/>
          <p:nvPr/>
        </p:nvCxnSpPr>
        <p:spPr>
          <a:xfrm flipV="1">
            <a:off x="4225925" y="3524885"/>
            <a:ext cx="3187065" cy="1706245"/>
          </a:xfrm>
          <a:prstGeom prst="bentConnector3">
            <a:avLst>
              <a:gd name="adj1" fmla="val 76947"/>
            </a:avLst>
          </a:prstGeom>
          <a:ln>
            <a:prstDash val="sysDot"/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8388350" y="3042920"/>
            <a:ext cx="343535" cy="20828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8664575" y="3105150"/>
            <a:ext cx="75565" cy="75565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6" name="Straight Connector 35"/>
          <p:cNvCxnSpPr>
            <a:endCxn id="34" idx="3"/>
          </p:cNvCxnSpPr>
          <p:nvPr/>
        </p:nvCxnSpPr>
        <p:spPr>
          <a:xfrm flipV="1">
            <a:off x="7760335" y="3147060"/>
            <a:ext cx="695960" cy="508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Text Box 38"/>
          <p:cNvSpPr txBox="1"/>
          <p:nvPr/>
        </p:nvSpPr>
        <p:spPr>
          <a:xfrm>
            <a:off x="7675245" y="2907030"/>
            <a:ext cx="8667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clk_in_d1</a:t>
            </a:r>
            <a:endParaRPr lang="en-US" alt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Flowchart: Delay 40"/>
          <p:cNvSpPr/>
          <p:nvPr/>
        </p:nvSpPr>
        <p:spPr>
          <a:xfrm>
            <a:off x="9140825" y="3411220"/>
            <a:ext cx="497840" cy="680085"/>
          </a:xfrm>
          <a:prstGeom prst="flowChartDelay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43" name="Elbow Connector 42"/>
          <p:cNvCxnSpPr/>
          <p:nvPr/>
        </p:nvCxnSpPr>
        <p:spPr>
          <a:xfrm>
            <a:off x="6996430" y="3136265"/>
            <a:ext cx="2137410" cy="808355"/>
          </a:xfrm>
          <a:prstGeom prst="bentConnector3">
            <a:avLst>
              <a:gd name="adj1" fmla="val 594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35" idx="6"/>
            <a:endCxn id="41" idx="1"/>
          </p:cNvCxnSpPr>
          <p:nvPr/>
        </p:nvCxnSpPr>
        <p:spPr>
          <a:xfrm>
            <a:off x="8740140" y="3143250"/>
            <a:ext cx="400685" cy="608330"/>
          </a:xfrm>
          <a:prstGeom prst="bentConnector3">
            <a:avLst>
              <a:gd name="adj1" fmla="val 5007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Text Box 44"/>
          <p:cNvSpPr txBox="1"/>
          <p:nvPr/>
        </p:nvSpPr>
        <p:spPr>
          <a:xfrm>
            <a:off x="6352540" y="2891155"/>
            <a:ext cx="8667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clk_in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6" name="Straight Connector 45"/>
          <p:cNvCxnSpPr>
            <a:stCxn id="41" idx="3"/>
          </p:cNvCxnSpPr>
          <p:nvPr/>
        </p:nvCxnSpPr>
        <p:spPr>
          <a:xfrm>
            <a:off x="9638665" y="3751580"/>
            <a:ext cx="1365885" cy="4445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Text Box 46"/>
          <p:cNvSpPr txBox="1"/>
          <p:nvPr/>
        </p:nvSpPr>
        <p:spPr>
          <a:xfrm>
            <a:off x="7325995" y="3147060"/>
            <a:ext cx="4197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DFF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s 31"/>
          <p:cNvSpPr/>
          <p:nvPr>
            <p:custDataLst>
              <p:tags r:id="rId1"/>
            </p:custDataLst>
          </p:nvPr>
        </p:nvSpPr>
        <p:spPr>
          <a:xfrm>
            <a:off x="1645285" y="1211580"/>
            <a:ext cx="8773160" cy="497078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 Box 32"/>
          <p:cNvSpPr txBox="1"/>
          <p:nvPr>
            <p:custDataLst>
              <p:tags r:id="rId2"/>
            </p:custDataLst>
          </p:nvPr>
        </p:nvSpPr>
        <p:spPr>
          <a:xfrm>
            <a:off x="3347085" y="490855"/>
            <a:ext cx="5278120" cy="295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ctr">
              <a:lnSpc>
                <a:spcPct val="90000"/>
              </a:lnSpc>
            </a:pPr>
            <a:r>
              <a:rPr lang="en-US" sz="28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TCNT Block</a:t>
            </a:r>
            <a:endParaRPr lang="en-US" sz="28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516380" y="2041525"/>
            <a:ext cx="269240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515110" y="2465705"/>
            <a:ext cx="265430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7141845" y="2329815"/>
            <a:ext cx="509905" cy="84455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41845" y="3794760"/>
            <a:ext cx="509905" cy="84455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2" name="Elbow Connector 51"/>
          <p:cNvCxnSpPr>
            <a:endCxn id="46" idx="1"/>
          </p:cNvCxnSpPr>
          <p:nvPr/>
        </p:nvCxnSpPr>
        <p:spPr>
          <a:xfrm rot="5400000" flipV="1">
            <a:off x="6521450" y="3596640"/>
            <a:ext cx="735330" cy="504825"/>
          </a:xfrm>
          <a:prstGeom prst="bentConnector2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cxnSp>
        <p:nvCxnSpPr>
          <p:cNvPr id="53" name="Elbow Connector 52"/>
          <p:cNvCxnSpPr>
            <a:endCxn id="45" idx="1"/>
          </p:cNvCxnSpPr>
          <p:nvPr/>
        </p:nvCxnSpPr>
        <p:spPr>
          <a:xfrm rot="16200000">
            <a:off x="6523990" y="2860675"/>
            <a:ext cx="726440" cy="509270"/>
          </a:xfrm>
          <a:prstGeom prst="bentConnector2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sp>
        <p:nvSpPr>
          <p:cNvPr id="24" name="Text Box 23"/>
          <p:cNvSpPr txBox="1"/>
          <p:nvPr>
            <p:custDataLst>
              <p:tags r:id="rId3"/>
            </p:custDataLst>
          </p:nvPr>
        </p:nvSpPr>
        <p:spPr>
          <a:xfrm>
            <a:off x="2089785" y="3623945"/>
            <a:ext cx="11677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 b="1">
                <a:latin typeface="Times New Roman" panose="02020603050405020304" charset="0"/>
                <a:cs typeface="Times New Roman" panose="02020603050405020304" charset="0"/>
              </a:rPr>
              <a:t>cnt_count[7:0]</a:t>
            </a:r>
            <a:endParaRPr lang="en-US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3190875" y="2019300"/>
            <a:ext cx="2200275" cy="34213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24890" y="2912745"/>
            <a:ext cx="629920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>
            <p:custDataLst>
              <p:tags r:id="rId4"/>
            </p:custDataLst>
          </p:nvPr>
        </p:nvSpPr>
        <p:spPr>
          <a:xfrm>
            <a:off x="996950" y="2928620"/>
            <a:ext cx="6457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TCR[5]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9" name="Straight Arrow Connector 8"/>
          <p:cNvCxnSpPr>
            <a:stCxn id="25" idx="3"/>
          </p:cNvCxnSpPr>
          <p:nvPr/>
        </p:nvCxnSpPr>
        <p:spPr>
          <a:xfrm flipV="1">
            <a:off x="1785620" y="2178050"/>
            <a:ext cx="1387475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788160" y="2591435"/>
            <a:ext cx="1326515" cy="44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3" idx="3"/>
          </p:cNvCxnSpPr>
          <p:nvPr/>
        </p:nvCxnSpPr>
        <p:spPr>
          <a:xfrm flipV="1">
            <a:off x="1654810" y="3048635"/>
            <a:ext cx="1453515" cy="12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Text Box 11"/>
          <p:cNvSpPr txBox="1"/>
          <p:nvPr/>
        </p:nvSpPr>
        <p:spPr>
          <a:xfrm>
            <a:off x="3655695" y="2880995"/>
            <a:ext cx="13747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/>
              <a:t>8 BIT UP/DOWN COUNTER</a:t>
            </a:r>
            <a:endParaRPr lang="en-US" sz="2000" b="1"/>
          </a:p>
        </p:txBody>
      </p:sp>
      <p:sp>
        <p:nvSpPr>
          <p:cNvPr id="14" name="Text Box 13"/>
          <p:cNvSpPr txBox="1"/>
          <p:nvPr/>
        </p:nvSpPr>
        <p:spPr>
          <a:xfrm>
            <a:off x="5545455" y="3194685"/>
            <a:ext cx="10871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reg_cnt</a:t>
            </a:r>
            <a:endParaRPr lang="en-US" sz="1000"/>
          </a:p>
        </p:txBody>
      </p:sp>
      <p:sp>
        <p:nvSpPr>
          <p:cNvPr id="15" name="Text Box 14"/>
          <p:cNvSpPr txBox="1"/>
          <p:nvPr>
            <p:custDataLst>
              <p:tags r:id="rId5"/>
            </p:custDataLst>
          </p:nvPr>
        </p:nvSpPr>
        <p:spPr>
          <a:xfrm>
            <a:off x="1028065" y="1929130"/>
            <a:ext cx="4883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1000" b="1">
                <a:latin typeface="Times New Roman" panose="02020603050405020304" charset="0"/>
                <a:cs typeface="Times New Roman" panose="02020603050405020304" charset="0"/>
              </a:rPr>
              <a:t>rst_n</a:t>
            </a:r>
            <a:endParaRPr lang="en-US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 Box 15"/>
          <p:cNvSpPr txBox="1"/>
          <p:nvPr>
            <p:custDataLst>
              <p:tags r:id="rId6"/>
            </p:custDataLst>
          </p:nvPr>
        </p:nvSpPr>
        <p:spPr>
          <a:xfrm>
            <a:off x="580390" y="2383155"/>
            <a:ext cx="9359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1000" b="1">
                <a:latin typeface="Times New Roman" panose="02020603050405020304" charset="0"/>
                <a:cs typeface="Times New Roman" panose="02020603050405020304" charset="0"/>
              </a:rPr>
              <a:t>clk_in</a:t>
            </a:r>
            <a:endParaRPr lang="en-US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Box 16"/>
          <p:cNvSpPr txBox="1"/>
          <p:nvPr>
            <p:custDataLst>
              <p:tags r:id="rId7"/>
            </p:custDataLst>
          </p:nvPr>
        </p:nvSpPr>
        <p:spPr>
          <a:xfrm>
            <a:off x="2249170" y="2803525"/>
            <a:ext cx="8489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1000" b="1">
                <a:latin typeface="Times New Roman" panose="02020603050405020304" charset="0"/>
                <a:cs typeface="Times New Roman" panose="02020603050405020304" charset="0"/>
              </a:rPr>
              <a:t>cnt_up_dw</a:t>
            </a:r>
            <a:endParaRPr lang="en-US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1655445" y="3885565"/>
            <a:ext cx="1455420" cy="25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79475" y="3743325"/>
            <a:ext cx="770890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 Box 21"/>
          <p:cNvSpPr txBox="1"/>
          <p:nvPr>
            <p:custDataLst>
              <p:tags r:id="rId8"/>
            </p:custDataLst>
          </p:nvPr>
        </p:nvSpPr>
        <p:spPr>
          <a:xfrm>
            <a:off x="890270" y="3762375"/>
            <a:ext cx="7804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TDR [7:0]</a:t>
            </a:r>
            <a:endParaRPr lang="en-US" sz="10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27430" y="3331210"/>
            <a:ext cx="620395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 Box 26"/>
          <p:cNvSpPr txBox="1"/>
          <p:nvPr>
            <p:custDataLst>
              <p:tags r:id="rId9"/>
            </p:custDataLst>
          </p:nvPr>
        </p:nvSpPr>
        <p:spPr>
          <a:xfrm>
            <a:off x="1027430" y="3347085"/>
            <a:ext cx="758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TCR[4]</a:t>
            </a:r>
            <a:r>
              <a:rPr lang="en-US" sz="10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9" name="Straight Arrow Connector 28"/>
          <p:cNvCxnSpPr>
            <a:stCxn id="23" idx="3"/>
          </p:cNvCxnSpPr>
          <p:nvPr/>
        </p:nvCxnSpPr>
        <p:spPr>
          <a:xfrm flipV="1">
            <a:off x="1647825" y="3466465"/>
            <a:ext cx="147701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Text Box 29"/>
          <p:cNvSpPr txBox="1"/>
          <p:nvPr>
            <p:custDataLst>
              <p:tags r:id="rId10"/>
            </p:custDataLst>
          </p:nvPr>
        </p:nvSpPr>
        <p:spPr>
          <a:xfrm>
            <a:off x="2105660" y="3221990"/>
            <a:ext cx="9359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1000" b="1">
                <a:latin typeface="Times New Roman" panose="02020603050405020304" charset="0"/>
                <a:cs typeface="Times New Roman" panose="02020603050405020304" charset="0"/>
              </a:rPr>
              <a:t>cnt_en</a:t>
            </a:r>
            <a:endParaRPr lang="en-US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Text Box 37"/>
          <p:cNvSpPr txBox="1"/>
          <p:nvPr>
            <p:custDataLst>
              <p:tags r:id="rId11"/>
            </p:custDataLst>
          </p:nvPr>
        </p:nvSpPr>
        <p:spPr>
          <a:xfrm>
            <a:off x="2378075" y="4041140"/>
            <a:ext cx="9588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 b="1">
                <a:latin typeface="Times New Roman" panose="02020603050405020304" charset="0"/>
                <a:cs typeface="Times New Roman" panose="02020603050405020304" charset="0"/>
              </a:rPr>
              <a:t>cnt_load</a:t>
            </a:r>
            <a:endParaRPr lang="en-US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1642745" y="4286250"/>
            <a:ext cx="1455420" cy="25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24890" y="4159250"/>
            <a:ext cx="628015" cy="25654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Text Box 42"/>
          <p:cNvSpPr txBox="1"/>
          <p:nvPr>
            <p:custDataLst>
              <p:tags r:id="rId12"/>
            </p:custDataLst>
          </p:nvPr>
        </p:nvSpPr>
        <p:spPr>
          <a:xfrm>
            <a:off x="1026795" y="4178300"/>
            <a:ext cx="646430" cy="186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sz="1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TCR[7]</a:t>
            </a:r>
            <a:endParaRPr lang="en-US" sz="10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/>
            <a:endParaRPr lang="en-US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91150" y="3481705"/>
            <a:ext cx="124333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465580" y="4646295"/>
            <a:ext cx="320040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>
            <p:custDataLst>
              <p:tags r:id="rId13"/>
            </p:custDataLst>
          </p:nvPr>
        </p:nvSpPr>
        <p:spPr>
          <a:xfrm>
            <a:off x="643890" y="4645025"/>
            <a:ext cx="9988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rst_n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788160" y="4780280"/>
            <a:ext cx="1402715" cy="12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114675" y="2896235"/>
            <a:ext cx="269240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114675" y="3349625"/>
            <a:ext cx="269240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114675" y="3762375"/>
            <a:ext cx="269240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110865" y="4159250"/>
            <a:ext cx="269240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124835" y="2465705"/>
            <a:ext cx="269240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Text Box 36"/>
          <p:cNvSpPr txBox="1"/>
          <p:nvPr>
            <p:custDataLst>
              <p:tags r:id="rId14"/>
            </p:custDataLst>
          </p:nvPr>
        </p:nvSpPr>
        <p:spPr>
          <a:xfrm>
            <a:off x="2249170" y="2315845"/>
            <a:ext cx="8489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1000" b="1">
                <a:latin typeface="Times New Roman" panose="02020603050405020304" charset="0"/>
                <a:cs typeface="Times New Roman" panose="02020603050405020304" charset="0"/>
              </a:rPr>
              <a:t>cnt_clk_in</a:t>
            </a:r>
            <a:endParaRPr lang="en-US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465580" y="5032375"/>
            <a:ext cx="320040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Text Box 49"/>
          <p:cNvSpPr txBox="1"/>
          <p:nvPr>
            <p:custDataLst>
              <p:tags r:id="rId15"/>
            </p:custDataLst>
          </p:nvPr>
        </p:nvSpPr>
        <p:spPr>
          <a:xfrm>
            <a:off x="643890" y="5031105"/>
            <a:ext cx="9988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base_clk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1788160" y="5164455"/>
            <a:ext cx="1415415" cy="1905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>
          <a:xfrm flipV="1">
            <a:off x="2441575" y="4547870"/>
            <a:ext cx="4965700" cy="1033145"/>
          </a:xfrm>
          <a:prstGeom prst="bentConnector3">
            <a:avLst>
              <a:gd name="adj1" fmla="val 100012"/>
            </a:avLst>
          </a:prstGeom>
          <a:ln>
            <a:solidFill>
              <a:schemeClr val="tx1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 flipV="1">
            <a:off x="2449195" y="5167630"/>
            <a:ext cx="6350" cy="41338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Elbow Connector 38"/>
          <p:cNvCxnSpPr/>
          <p:nvPr/>
        </p:nvCxnSpPr>
        <p:spPr>
          <a:xfrm rot="16200000">
            <a:off x="5523230" y="3705225"/>
            <a:ext cx="2496820" cy="1245870"/>
          </a:xfrm>
          <a:prstGeom prst="bentConnector3">
            <a:avLst>
              <a:gd name="adj1" fmla="val 77187"/>
            </a:avLst>
          </a:prstGeom>
          <a:ln>
            <a:solidFill>
              <a:schemeClr val="tx1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Text Box 46"/>
          <p:cNvSpPr txBox="1"/>
          <p:nvPr/>
        </p:nvSpPr>
        <p:spPr>
          <a:xfrm>
            <a:off x="7186930" y="2635885"/>
            <a:ext cx="4197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DFF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7186930" y="4119245"/>
            <a:ext cx="4197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DFF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4" name="Straight Connector 43"/>
          <p:cNvCxnSpPr>
            <a:stCxn id="45" idx="3"/>
          </p:cNvCxnSpPr>
          <p:nvPr/>
        </p:nvCxnSpPr>
        <p:spPr>
          <a:xfrm flipV="1">
            <a:off x="7651750" y="2747645"/>
            <a:ext cx="644525" cy="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7651750" y="4178300"/>
            <a:ext cx="644525" cy="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Text Box 57"/>
          <p:cNvSpPr txBox="1"/>
          <p:nvPr/>
        </p:nvSpPr>
        <p:spPr>
          <a:xfrm>
            <a:off x="7651750" y="2465705"/>
            <a:ext cx="10871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delay_cnt</a:t>
            </a:r>
            <a:endParaRPr lang="en-US" sz="1000"/>
          </a:p>
        </p:txBody>
      </p:sp>
      <p:sp>
        <p:nvSpPr>
          <p:cNvPr id="67" name="Text Box 66"/>
          <p:cNvSpPr txBox="1"/>
          <p:nvPr/>
        </p:nvSpPr>
        <p:spPr>
          <a:xfrm>
            <a:off x="7651750" y="3914140"/>
            <a:ext cx="10871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delay_cnt</a:t>
            </a:r>
            <a:endParaRPr lang="en-US" sz="1000"/>
          </a:p>
        </p:txBody>
      </p:sp>
      <p:sp>
        <p:nvSpPr>
          <p:cNvPr id="68" name="Rectangles 67"/>
          <p:cNvSpPr/>
          <p:nvPr/>
        </p:nvSpPr>
        <p:spPr>
          <a:xfrm>
            <a:off x="8296275" y="2574925"/>
            <a:ext cx="299720" cy="50482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2" name="Rectangles 71"/>
          <p:cNvSpPr/>
          <p:nvPr/>
        </p:nvSpPr>
        <p:spPr>
          <a:xfrm>
            <a:off x="8296275" y="1669415"/>
            <a:ext cx="299720" cy="50482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3" name="Rectangles 72"/>
          <p:cNvSpPr/>
          <p:nvPr/>
        </p:nvSpPr>
        <p:spPr>
          <a:xfrm>
            <a:off x="8296275" y="3794760"/>
            <a:ext cx="299720" cy="50482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4" name="Rectangles 73"/>
          <p:cNvSpPr/>
          <p:nvPr/>
        </p:nvSpPr>
        <p:spPr>
          <a:xfrm>
            <a:off x="8296275" y="4662805"/>
            <a:ext cx="299720" cy="50482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5" name="Text Box 74"/>
          <p:cNvSpPr txBox="1"/>
          <p:nvPr/>
        </p:nvSpPr>
        <p:spPr>
          <a:xfrm>
            <a:off x="8318500" y="1796415"/>
            <a:ext cx="2559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/>
              <a:t>=</a:t>
            </a:r>
            <a:endParaRPr lang="en-US" sz="1000" b="1"/>
          </a:p>
        </p:txBody>
      </p:sp>
      <p:sp>
        <p:nvSpPr>
          <p:cNvPr id="76" name="Text Box 75"/>
          <p:cNvSpPr txBox="1"/>
          <p:nvPr/>
        </p:nvSpPr>
        <p:spPr>
          <a:xfrm>
            <a:off x="8318500" y="3933190"/>
            <a:ext cx="2559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/>
              <a:t>=</a:t>
            </a:r>
            <a:endParaRPr lang="en-US" sz="1000" b="1"/>
          </a:p>
        </p:txBody>
      </p:sp>
      <p:sp>
        <p:nvSpPr>
          <p:cNvPr id="77" name="Text Box 76"/>
          <p:cNvSpPr txBox="1"/>
          <p:nvPr/>
        </p:nvSpPr>
        <p:spPr>
          <a:xfrm>
            <a:off x="8318500" y="2710815"/>
            <a:ext cx="2559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/>
              <a:t>=</a:t>
            </a:r>
            <a:endParaRPr lang="en-US" sz="1000" b="1"/>
          </a:p>
        </p:txBody>
      </p:sp>
      <p:sp>
        <p:nvSpPr>
          <p:cNvPr id="78" name="Text Box 77"/>
          <p:cNvSpPr txBox="1"/>
          <p:nvPr/>
        </p:nvSpPr>
        <p:spPr>
          <a:xfrm>
            <a:off x="8318500" y="4792980"/>
            <a:ext cx="2559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/>
              <a:t>=</a:t>
            </a:r>
            <a:endParaRPr lang="en-US" sz="1000" b="1"/>
          </a:p>
        </p:txBody>
      </p:sp>
      <p:cxnSp>
        <p:nvCxnSpPr>
          <p:cNvPr id="79" name="Straight Connector 78"/>
          <p:cNvCxnSpPr/>
          <p:nvPr/>
        </p:nvCxnSpPr>
        <p:spPr>
          <a:xfrm flipV="1">
            <a:off x="8006080" y="2951480"/>
            <a:ext cx="290195" cy="2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Text Box 80"/>
          <p:cNvSpPr txBox="1"/>
          <p:nvPr/>
        </p:nvSpPr>
        <p:spPr>
          <a:xfrm>
            <a:off x="7877175" y="2740025"/>
            <a:ext cx="4743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8’hFF</a:t>
            </a:r>
            <a:endParaRPr lang="en-US" sz="1000"/>
          </a:p>
        </p:txBody>
      </p:sp>
      <p:cxnSp>
        <p:nvCxnSpPr>
          <p:cNvPr id="82" name="Straight Connector 81"/>
          <p:cNvCxnSpPr/>
          <p:nvPr/>
        </p:nvCxnSpPr>
        <p:spPr>
          <a:xfrm flipV="1">
            <a:off x="8006080" y="5036820"/>
            <a:ext cx="290195" cy="2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Text Box 82"/>
          <p:cNvSpPr txBox="1"/>
          <p:nvPr/>
        </p:nvSpPr>
        <p:spPr>
          <a:xfrm>
            <a:off x="7877175" y="4825365"/>
            <a:ext cx="4743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8’hFF</a:t>
            </a:r>
            <a:endParaRPr lang="en-US" sz="1000"/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8006080" y="2078990"/>
            <a:ext cx="290195" cy="2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5" name="Text Box 84"/>
          <p:cNvSpPr txBox="1"/>
          <p:nvPr/>
        </p:nvSpPr>
        <p:spPr>
          <a:xfrm>
            <a:off x="7877175" y="1867535"/>
            <a:ext cx="4743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8’h00</a:t>
            </a:r>
            <a:endParaRPr lang="en-US" sz="1000"/>
          </a:p>
        </p:txBody>
      </p:sp>
      <p:cxnSp>
        <p:nvCxnSpPr>
          <p:cNvPr id="86" name="Straight Connector 85"/>
          <p:cNvCxnSpPr/>
          <p:nvPr/>
        </p:nvCxnSpPr>
        <p:spPr>
          <a:xfrm flipV="1">
            <a:off x="8006080" y="3922395"/>
            <a:ext cx="290195" cy="2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7" name="Text Box 86"/>
          <p:cNvSpPr txBox="1"/>
          <p:nvPr/>
        </p:nvSpPr>
        <p:spPr>
          <a:xfrm>
            <a:off x="7877175" y="3710940"/>
            <a:ext cx="4743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8’h00</a:t>
            </a:r>
            <a:endParaRPr lang="en-US" sz="1000"/>
          </a:p>
        </p:txBody>
      </p:sp>
      <p:cxnSp>
        <p:nvCxnSpPr>
          <p:cNvPr id="88" name="Elbow Connector 87"/>
          <p:cNvCxnSpPr/>
          <p:nvPr/>
        </p:nvCxnSpPr>
        <p:spPr>
          <a:xfrm flipV="1">
            <a:off x="6180455" y="1795145"/>
            <a:ext cx="2105025" cy="1685925"/>
          </a:xfrm>
          <a:prstGeom prst="bentConnector3">
            <a:avLst>
              <a:gd name="adj1" fmla="val 9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Elbow Connector 88"/>
          <p:cNvCxnSpPr/>
          <p:nvPr/>
        </p:nvCxnSpPr>
        <p:spPr>
          <a:xfrm>
            <a:off x="6180455" y="3484245"/>
            <a:ext cx="2111375" cy="1301750"/>
          </a:xfrm>
          <a:prstGeom prst="bentConnector3">
            <a:avLst>
              <a:gd name="adj1" fmla="val 24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Flowchart: Delay 89"/>
          <p:cNvSpPr/>
          <p:nvPr/>
        </p:nvSpPr>
        <p:spPr>
          <a:xfrm>
            <a:off x="9163050" y="2041525"/>
            <a:ext cx="497840" cy="680085"/>
          </a:xfrm>
          <a:prstGeom prst="flowChartDelay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1" name="Flowchart: Delay 90"/>
          <p:cNvSpPr/>
          <p:nvPr/>
        </p:nvSpPr>
        <p:spPr>
          <a:xfrm>
            <a:off x="9163050" y="4145280"/>
            <a:ext cx="497840" cy="680085"/>
          </a:xfrm>
          <a:prstGeom prst="flowChartDelay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92" name="Elbow Connector 91"/>
          <p:cNvCxnSpPr>
            <a:stCxn id="72" idx="3"/>
          </p:cNvCxnSpPr>
          <p:nvPr/>
        </p:nvCxnSpPr>
        <p:spPr>
          <a:xfrm>
            <a:off x="8595995" y="1922145"/>
            <a:ext cx="568960" cy="3429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Elbow Connector 92"/>
          <p:cNvCxnSpPr/>
          <p:nvPr/>
        </p:nvCxnSpPr>
        <p:spPr>
          <a:xfrm flipV="1">
            <a:off x="8595995" y="2506345"/>
            <a:ext cx="578485" cy="297180"/>
          </a:xfrm>
          <a:prstGeom prst="bentConnector3">
            <a:avLst>
              <a:gd name="adj1" fmla="val 5005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Elbow Connector 93"/>
          <p:cNvCxnSpPr/>
          <p:nvPr/>
        </p:nvCxnSpPr>
        <p:spPr>
          <a:xfrm>
            <a:off x="8595995" y="4011295"/>
            <a:ext cx="568960" cy="3429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Elbow Connector 94"/>
          <p:cNvCxnSpPr/>
          <p:nvPr/>
        </p:nvCxnSpPr>
        <p:spPr>
          <a:xfrm flipV="1">
            <a:off x="8595995" y="4595495"/>
            <a:ext cx="578485" cy="297180"/>
          </a:xfrm>
          <a:prstGeom prst="bentConnector3">
            <a:avLst>
              <a:gd name="adj1" fmla="val 5005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flipV="1">
            <a:off x="9660890" y="2378710"/>
            <a:ext cx="644525" cy="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V="1">
            <a:off x="9660890" y="4483100"/>
            <a:ext cx="644525" cy="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10305415" y="2232025"/>
            <a:ext cx="269240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10305415" y="4321175"/>
            <a:ext cx="269240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0" name="Text Box 99"/>
          <p:cNvSpPr txBox="1"/>
          <p:nvPr>
            <p:custDataLst>
              <p:tags r:id="rId16"/>
            </p:custDataLst>
          </p:nvPr>
        </p:nvSpPr>
        <p:spPr>
          <a:xfrm>
            <a:off x="10418445" y="1986915"/>
            <a:ext cx="634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1000" b="1">
                <a:latin typeface="Times New Roman" panose="02020603050405020304" charset="0"/>
                <a:cs typeface="Times New Roman" panose="02020603050405020304" charset="0"/>
              </a:rPr>
              <a:t>cnt_ovf</a:t>
            </a:r>
            <a:endParaRPr lang="en-US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1" name="Text Box 100"/>
          <p:cNvSpPr txBox="1"/>
          <p:nvPr>
            <p:custDataLst>
              <p:tags r:id="rId17"/>
            </p:custDataLst>
          </p:nvPr>
        </p:nvSpPr>
        <p:spPr>
          <a:xfrm>
            <a:off x="10418445" y="4076065"/>
            <a:ext cx="6337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1000" b="1">
                <a:latin typeface="Times New Roman" panose="02020603050405020304" charset="0"/>
                <a:cs typeface="Times New Roman" panose="02020603050405020304" charset="0"/>
              </a:rPr>
              <a:t>cnt_udf</a:t>
            </a:r>
            <a:endParaRPr lang="en-US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s 64"/>
          <p:cNvSpPr/>
          <p:nvPr/>
        </p:nvSpPr>
        <p:spPr>
          <a:xfrm>
            <a:off x="2940050" y="3714115"/>
            <a:ext cx="518160" cy="7772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Rectangles 59"/>
          <p:cNvSpPr/>
          <p:nvPr/>
        </p:nvSpPr>
        <p:spPr>
          <a:xfrm>
            <a:off x="2940050" y="2776220"/>
            <a:ext cx="518160" cy="7772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Rectangles 34"/>
          <p:cNvSpPr/>
          <p:nvPr/>
        </p:nvSpPr>
        <p:spPr>
          <a:xfrm>
            <a:off x="2940050" y="1861820"/>
            <a:ext cx="518160" cy="7772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Rectangles 31"/>
          <p:cNvSpPr/>
          <p:nvPr>
            <p:custDataLst>
              <p:tags r:id="rId1"/>
            </p:custDataLst>
          </p:nvPr>
        </p:nvSpPr>
        <p:spPr>
          <a:xfrm>
            <a:off x="2618740" y="1366520"/>
            <a:ext cx="2170430" cy="364998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 Box 32"/>
          <p:cNvSpPr txBox="1"/>
          <p:nvPr>
            <p:custDataLst>
              <p:tags r:id="rId2"/>
            </p:custDataLst>
          </p:nvPr>
        </p:nvSpPr>
        <p:spPr>
          <a:xfrm>
            <a:off x="3214370" y="327025"/>
            <a:ext cx="5963920" cy="295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ctr">
              <a:lnSpc>
                <a:spcPct val="90000"/>
              </a:lnSpc>
            </a:pPr>
            <a:r>
              <a:rPr lang="en-US" sz="28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READ/WIRE Control Block</a:t>
            </a:r>
            <a:endParaRPr lang="en-US" sz="28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>
            <p:custDataLst>
              <p:tags r:id="rId3"/>
            </p:custDataLst>
          </p:nvPr>
        </p:nvSpPr>
        <p:spPr>
          <a:xfrm>
            <a:off x="1853565" y="2195195"/>
            <a:ext cx="6248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pwrite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Box 9"/>
          <p:cNvSpPr txBox="1"/>
          <p:nvPr>
            <p:custDataLst>
              <p:tags r:id="rId4"/>
            </p:custDataLst>
          </p:nvPr>
        </p:nvSpPr>
        <p:spPr>
          <a:xfrm>
            <a:off x="1589405" y="2899410"/>
            <a:ext cx="889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paddr[7:0]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Box 10"/>
          <p:cNvSpPr txBox="1"/>
          <p:nvPr>
            <p:custDataLst>
              <p:tags r:id="rId5"/>
            </p:custDataLst>
          </p:nvPr>
        </p:nvSpPr>
        <p:spPr>
          <a:xfrm>
            <a:off x="1545590" y="2527935"/>
            <a:ext cx="9359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penable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 Box 15"/>
          <p:cNvSpPr txBox="1"/>
          <p:nvPr>
            <p:custDataLst>
              <p:tags r:id="rId6"/>
            </p:custDataLst>
          </p:nvPr>
        </p:nvSpPr>
        <p:spPr>
          <a:xfrm>
            <a:off x="4876800" y="1410335"/>
            <a:ext cx="10642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prdata[7:0]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Box 16"/>
          <p:cNvSpPr txBox="1"/>
          <p:nvPr>
            <p:custDataLst>
              <p:tags r:id="rId7"/>
            </p:custDataLst>
          </p:nvPr>
        </p:nvSpPr>
        <p:spPr>
          <a:xfrm>
            <a:off x="1546225" y="3250565"/>
            <a:ext cx="9988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pwdata[7:0]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 Box 21"/>
          <p:cNvSpPr txBox="1"/>
          <p:nvPr>
            <p:custDataLst>
              <p:tags r:id="rId8"/>
            </p:custDataLst>
          </p:nvPr>
        </p:nvSpPr>
        <p:spPr>
          <a:xfrm>
            <a:off x="4876800" y="2084705"/>
            <a:ext cx="6750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plsverr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 Box 22"/>
          <p:cNvSpPr txBox="1"/>
          <p:nvPr>
            <p:custDataLst>
              <p:tags r:id="rId9"/>
            </p:custDataLst>
          </p:nvPr>
        </p:nvSpPr>
        <p:spPr>
          <a:xfrm>
            <a:off x="4876800" y="1745615"/>
            <a:ext cx="9359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pready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4876800" y="1683385"/>
            <a:ext cx="502285" cy="254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4873625" y="2018665"/>
            <a:ext cx="502285" cy="254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4876800" y="2348865"/>
            <a:ext cx="502285" cy="254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sp>
        <p:nvSpPr>
          <p:cNvPr id="24" name="Text Box 23"/>
          <p:cNvSpPr txBox="1"/>
          <p:nvPr>
            <p:custDataLst>
              <p:tags r:id="rId10"/>
            </p:custDataLst>
          </p:nvPr>
        </p:nvSpPr>
        <p:spPr>
          <a:xfrm>
            <a:off x="5897880" y="2673985"/>
            <a:ext cx="10033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reg_tdr[7:0]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2921635" y="1948180"/>
            <a:ext cx="536575" cy="690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600" b="1">
                <a:solidFill>
                  <a:srgbClr val="FF0000"/>
                </a:solidFill>
              </a:rPr>
              <a:t>TDR</a:t>
            </a:r>
            <a:endParaRPr lang="en-US" sz="1600" b="1">
              <a:solidFill>
                <a:srgbClr val="FF0000"/>
              </a:solidFill>
            </a:endParaRPr>
          </a:p>
          <a:p>
            <a:pPr algn="ctr"/>
            <a:r>
              <a:rPr lang="en-US" sz="1400" b="1">
                <a:solidFill>
                  <a:schemeClr val="tx1"/>
                </a:solidFill>
              </a:rPr>
              <a:t>0x0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8027035" y="1685925"/>
            <a:ext cx="1610360" cy="29235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3" name="Text Box 42"/>
          <p:cNvSpPr txBox="1"/>
          <p:nvPr>
            <p:custDataLst>
              <p:tags r:id="rId11"/>
            </p:custDataLst>
          </p:nvPr>
        </p:nvSpPr>
        <p:spPr>
          <a:xfrm>
            <a:off x="8420100" y="2868930"/>
            <a:ext cx="824230" cy="295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90000"/>
              </a:lnSpc>
            </a:pPr>
            <a:r>
              <a:rPr lang="en-US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TCNT</a:t>
            </a:r>
            <a:endParaRPr lang="en-US" sz="16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2921635" y="2841625"/>
            <a:ext cx="535940" cy="711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600" b="1">
                <a:solidFill>
                  <a:srgbClr val="FF0000"/>
                </a:solidFill>
              </a:rPr>
              <a:t>TCR</a:t>
            </a:r>
            <a:endParaRPr lang="en-US" sz="1600" b="1">
              <a:solidFill>
                <a:srgbClr val="FF0000"/>
              </a:solidFill>
            </a:endParaRPr>
          </a:p>
          <a:p>
            <a:pPr algn="ctr"/>
            <a:r>
              <a:rPr lang="en-US" sz="1400" b="1">
                <a:solidFill>
                  <a:schemeClr val="tx1"/>
                </a:solidFill>
              </a:rPr>
              <a:t>0x1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49" name="Text Box 48"/>
          <p:cNvSpPr txBox="1"/>
          <p:nvPr>
            <p:custDataLst>
              <p:tags r:id="rId12"/>
            </p:custDataLst>
          </p:nvPr>
        </p:nvSpPr>
        <p:spPr>
          <a:xfrm>
            <a:off x="5922010" y="2972435"/>
            <a:ext cx="979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reg_tcr[7:0]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" name="Text Box 60"/>
          <p:cNvSpPr txBox="1"/>
          <p:nvPr/>
        </p:nvSpPr>
        <p:spPr>
          <a:xfrm>
            <a:off x="2921635" y="3803015"/>
            <a:ext cx="535940" cy="732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600" b="1">
                <a:solidFill>
                  <a:srgbClr val="FF0000"/>
                </a:solidFill>
              </a:rPr>
              <a:t>TSR</a:t>
            </a:r>
            <a:endParaRPr lang="en-US" b="1">
              <a:solidFill>
                <a:srgbClr val="FF0000"/>
              </a:solidFill>
            </a:endParaRPr>
          </a:p>
          <a:p>
            <a:pPr algn="ctr"/>
            <a:r>
              <a:rPr lang="en-US" sz="1400" b="1">
                <a:solidFill>
                  <a:schemeClr val="tx1"/>
                </a:solidFill>
              </a:rPr>
              <a:t>0x2</a:t>
            </a:r>
            <a:endParaRPr lang="en-US" sz="1400" b="1">
              <a:solidFill>
                <a:schemeClr val="tx1"/>
              </a:solidFill>
            </a:endParaRPr>
          </a:p>
        </p:txBody>
      </p:sp>
      <p:cxnSp>
        <p:nvCxnSpPr>
          <p:cNvPr id="72" name="Straight Arrow Connector 71"/>
          <p:cNvCxnSpPr>
            <a:stCxn id="86" idx="3"/>
          </p:cNvCxnSpPr>
          <p:nvPr/>
        </p:nvCxnSpPr>
        <p:spPr>
          <a:xfrm flipV="1">
            <a:off x="4876800" y="2919095"/>
            <a:ext cx="3068955" cy="133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sp>
        <p:nvSpPr>
          <p:cNvPr id="74" name="Text Box 73"/>
          <p:cNvSpPr txBox="1"/>
          <p:nvPr/>
        </p:nvSpPr>
        <p:spPr>
          <a:xfrm>
            <a:off x="2707005" y="4683125"/>
            <a:ext cx="1858010" cy="333375"/>
          </a:xfrm>
          <a:prstGeom prst="rect">
            <a:avLst/>
          </a:prstGeom>
          <a:ln w="6350" cap="flat" cmpd="sng" algn="ctr">
            <a:noFill/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0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r>
              <a:rPr lang="en-US" b="1">
                <a:solidFill>
                  <a:srgbClr val="FF0000"/>
                </a:solidFill>
              </a:rPr>
              <a:t>APB Protocol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253365" y="5498465"/>
            <a:ext cx="2226945" cy="1359535"/>
          </a:xfrm>
          <a:prstGeom prst="rect">
            <a:avLst/>
          </a:prstGeom>
        </p:spPr>
        <p:txBody>
          <a:bodyPr>
            <a:noAutofit/>
          </a:bodyPr>
          <a:p>
            <a:r>
              <a:rPr sz="1200">
                <a:solidFill>
                  <a:srgbClr val="231F20"/>
                </a:solidFill>
                <a:latin typeface="Helvetica"/>
                <a:ea typeface="Helvetica"/>
              </a:rPr>
              <a:t>[Legend]</a:t>
            </a:r>
            <a:endParaRPr sz="1200">
              <a:solidFill>
                <a:srgbClr val="231F20"/>
              </a:solidFill>
              <a:latin typeface="Helvetica"/>
              <a:ea typeface="Helvetica"/>
            </a:endParaRPr>
          </a:p>
          <a:p>
            <a:r>
              <a:rPr lang="en-US" sz="1200">
                <a:solidFill>
                  <a:srgbClr val="231F20"/>
                </a:solidFill>
                <a:latin typeface="Helvetica"/>
                <a:ea typeface="Helvetica"/>
              </a:rPr>
              <a:t>TDR: Timer Data Register</a:t>
            </a:r>
            <a:r>
              <a:rPr sz="1200">
                <a:solidFill>
                  <a:srgbClr val="231F20"/>
                </a:solidFill>
                <a:latin typeface="Helvetica"/>
                <a:ea typeface="Helvetica"/>
              </a:rPr>
              <a:t> </a:t>
            </a:r>
            <a:endParaRPr sz="1200">
              <a:solidFill>
                <a:srgbClr val="231F20"/>
              </a:solidFill>
              <a:latin typeface="Helvetica"/>
              <a:ea typeface="Helvetica"/>
            </a:endParaRPr>
          </a:p>
          <a:p>
            <a:r>
              <a:rPr lang="en-US" sz="1200">
                <a:solidFill>
                  <a:srgbClr val="231F20"/>
                </a:solidFill>
                <a:latin typeface="Helvetica"/>
                <a:ea typeface="Helvetica"/>
              </a:rPr>
              <a:t>TCR: Timer Control Register</a:t>
            </a:r>
            <a:endParaRPr lang="en-US" sz="1200">
              <a:solidFill>
                <a:srgbClr val="231F20"/>
              </a:solidFill>
              <a:latin typeface="Helvetica"/>
              <a:ea typeface="Helvetica"/>
            </a:endParaRPr>
          </a:p>
          <a:p>
            <a:r>
              <a:rPr lang="en-US" sz="1200">
                <a:solidFill>
                  <a:srgbClr val="231F20"/>
                </a:solidFill>
                <a:latin typeface="Helvetica"/>
                <a:ea typeface="Helvetica"/>
              </a:rPr>
              <a:t>TSR: Timer Status Register</a:t>
            </a:r>
            <a:endParaRPr lang="en-US" sz="1200">
              <a:solidFill>
                <a:srgbClr val="231F20"/>
              </a:solidFill>
              <a:latin typeface="Helvetica"/>
              <a:ea typeface="Helvetica"/>
            </a:endParaRPr>
          </a:p>
          <a:p>
            <a:r>
              <a:rPr lang="en-US" sz="1200">
                <a:solidFill>
                  <a:srgbClr val="231F20"/>
                </a:solidFill>
                <a:latin typeface="Helvetica"/>
                <a:ea typeface="Helvetica"/>
              </a:rPr>
              <a:t>TCNT: Timer Counter </a:t>
            </a:r>
            <a:endParaRPr lang="en-US" sz="1200">
              <a:solidFill>
                <a:srgbClr val="231F20"/>
              </a:solidFill>
              <a:latin typeface="Helvetica"/>
              <a:ea typeface="Helvetica"/>
            </a:endParaRPr>
          </a:p>
          <a:p>
            <a:endParaRPr lang="en-US" sz="1200">
              <a:solidFill>
                <a:srgbClr val="231F20"/>
              </a:solidFill>
              <a:latin typeface="Helvetica"/>
              <a:ea typeface="Helvetica"/>
            </a:endParaRPr>
          </a:p>
        </p:txBody>
      </p:sp>
      <p:sp>
        <p:nvSpPr>
          <p:cNvPr id="6" name="Text Box 5"/>
          <p:cNvSpPr txBox="1"/>
          <p:nvPr>
            <p:custDataLst>
              <p:tags r:id="rId13"/>
            </p:custDataLst>
          </p:nvPr>
        </p:nvSpPr>
        <p:spPr>
          <a:xfrm>
            <a:off x="7023735" y="2639060"/>
            <a:ext cx="1353820" cy="25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sz="1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cnt_count[7:0]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Text Box 45"/>
          <p:cNvSpPr txBox="1"/>
          <p:nvPr>
            <p:custDataLst>
              <p:tags r:id="rId14"/>
            </p:custDataLst>
          </p:nvPr>
        </p:nvSpPr>
        <p:spPr>
          <a:xfrm>
            <a:off x="4201160" y="3675380"/>
            <a:ext cx="5880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p_ovf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Text Box 46"/>
          <p:cNvSpPr txBox="1"/>
          <p:nvPr>
            <p:custDataLst>
              <p:tags r:id="rId15"/>
            </p:custDataLst>
          </p:nvPr>
        </p:nvSpPr>
        <p:spPr>
          <a:xfrm>
            <a:off x="4204335" y="4100830"/>
            <a:ext cx="5848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p-udf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Text Box 51"/>
          <p:cNvSpPr txBox="1"/>
          <p:nvPr>
            <p:custDataLst>
              <p:tags r:id="rId16"/>
            </p:custDataLst>
          </p:nvPr>
        </p:nvSpPr>
        <p:spPr>
          <a:xfrm>
            <a:off x="1652905" y="3828415"/>
            <a:ext cx="9690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rst_n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6" name="Straight Arrow Connector 75"/>
          <p:cNvCxnSpPr/>
          <p:nvPr/>
        </p:nvCxnSpPr>
        <p:spPr>
          <a:xfrm flipV="1">
            <a:off x="1668780" y="2483485"/>
            <a:ext cx="866775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V="1">
            <a:off x="1668780" y="2812415"/>
            <a:ext cx="866775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V="1">
            <a:off x="1668780" y="3175000"/>
            <a:ext cx="866775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V="1">
            <a:off x="1668780" y="3526155"/>
            <a:ext cx="866775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V="1">
            <a:off x="1732280" y="4064000"/>
            <a:ext cx="866775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cxnSp>
        <p:nvCxnSpPr>
          <p:cNvPr id="83" name="Elbow Connector 82"/>
          <p:cNvCxnSpPr/>
          <p:nvPr/>
        </p:nvCxnSpPr>
        <p:spPr>
          <a:xfrm>
            <a:off x="3458210" y="2283460"/>
            <a:ext cx="1250950" cy="648970"/>
          </a:xfrm>
          <a:prstGeom prst="bentConnector3">
            <a:avLst>
              <a:gd name="adj1" fmla="val 2736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40" idx="3"/>
            <a:endCxn id="28" idx="1"/>
          </p:cNvCxnSpPr>
          <p:nvPr/>
        </p:nvCxnSpPr>
        <p:spPr>
          <a:xfrm flipV="1">
            <a:off x="3457575" y="3194050"/>
            <a:ext cx="4488180" cy="381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sp>
        <p:nvSpPr>
          <p:cNvPr id="85" name="Text Box 84"/>
          <p:cNvSpPr txBox="1"/>
          <p:nvPr>
            <p:custDataLst>
              <p:tags r:id="rId17"/>
            </p:custDataLst>
          </p:nvPr>
        </p:nvSpPr>
        <p:spPr>
          <a:xfrm>
            <a:off x="6093460" y="2948940"/>
            <a:ext cx="1003300" cy="229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4709160" y="2837180"/>
            <a:ext cx="167640" cy="19050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3" name="Text Box 92"/>
          <p:cNvSpPr txBox="1"/>
          <p:nvPr>
            <p:custDataLst>
              <p:tags r:id="rId18"/>
            </p:custDataLst>
          </p:nvPr>
        </p:nvSpPr>
        <p:spPr>
          <a:xfrm>
            <a:off x="5922010" y="3811270"/>
            <a:ext cx="979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reg_tsr[0]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>
            <p:custDataLst>
              <p:tags r:id="rId19"/>
            </p:custDataLst>
          </p:nvPr>
        </p:nvSpPr>
        <p:spPr>
          <a:xfrm>
            <a:off x="7244715" y="3780790"/>
            <a:ext cx="6692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cnt_ovf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>
            <p:custDataLst>
              <p:tags r:id="rId20"/>
            </p:custDataLst>
          </p:nvPr>
        </p:nvSpPr>
        <p:spPr>
          <a:xfrm>
            <a:off x="7244715" y="4113530"/>
            <a:ext cx="9124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cnt_udf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>
            <p:custDataLst>
              <p:tags r:id="rId21"/>
            </p:custDataLst>
          </p:nvPr>
        </p:nvSpPr>
        <p:spPr>
          <a:xfrm>
            <a:off x="3818255" y="2583180"/>
            <a:ext cx="1353820" cy="25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p_count[7:0]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14005" y="3950970"/>
            <a:ext cx="215265" cy="19748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7914005" y="4293870"/>
            <a:ext cx="215265" cy="19748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endCxn id="9" idx="1"/>
          </p:cNvCxnSpPr>
          <p:nvPr/>
        </p:nvCxnSpPr>
        <p:spPr>
          <a:xfrm flipV="1">
            <a:off x="4878705" y="4050030"/>
            <a:ext cx="3035300" cy="635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4876800" y="4389120"/>
            <a:ext cx="3035300" cy="635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661535" y="3950970"/>
            <a:ext cx="215265" cy="19748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4661535" y="4293870"/>
            <a:ext cx="215265" cy="19748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455035" y="4036060"/>
            <a:ext cx="1210310" cy="1397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3453130" y="4376420"/>
            <a:ext cx="1207135" cy="1270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Text Box 20"/>
          <p:cNvSpPr txBox="1"/>
          <p:nvPr>
            <p:custDataLst>
              <p:tags r:id="rId22"/>
            </p:custDataLst>
          </p:nvPr>
        </p:nvSpPr>
        <p:spPr>
          <a:xfrm>
            <a:off x="5922010" y="4150360"/>
            <a:ext cx="979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000">
                <a:latin typeface="Times New Roman" panose="02020603050405020304" charset="0"/>
                <a:cs typeface="Times New Roman" panose="02020603050405020304" charset="0"/>
              </a:rPr>
              <a:t>reg_tsr[1]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945755" y="2803525"/>
            <a:ext cx="215265" cy="19748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7945755" y="3094990"/>
            <a:ext cx="215265" cy="19748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" name="Rectangles 38"/>
          <p:cNvSpPr/>
          <p:nvPr>
            <p:custDataLst>
              <p:tags r:id="rId23"/>
            </p:custDataLst>
          </p:nvPr>
        </p:nvSpPr>
        <p:spPr>
          <a:xfrm>
            <a:off x="1565910" y="1210945"/>
            <a:ext cx="8417560" cy="390906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Text Box 40"/>
          <p:cNvSpPr txBox="1"/>
          <p:nvPr>
            <p:custDataLst>
              <p:tags r:id="rId24"/>
            </p:custDataLst>
          </p:nvPr>
        </p:nvSpPr>
        <p:spPr>
          <a:xfrm>
            <a:off x="1652905" y="4103370"/>
            <a:ext cx="9690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base_clk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1732280" y="4338955"/>
            <a:ext cx="866775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sp>
        <p:nvSpPr>
          <p:cNvPr id="50" name="Text Box 49"/>
          <p:cNvSpPr txBox="1"/>
          <p:nvPr>
            <p:custDataLst>
              <p:tags r:id="rId25"/>
            </p:custDataLst>
          </p:nvPr>
        </p:nvSpPr>
        <p:spPr>
          <a:xfrm>
            <a:off x="2025015" y="1918335"/>
            <a:ext cx="4527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psel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1668145" y="2206625"/>
            <a:ext cx="866775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2545080" y="2111375"/>
            <a:ext cx="167640" cy="19050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4" name="Rounded Rectangle 53"/>
          <p:cNvSpPr/>
          <p:nvPr/>
        </p:nvSpPr>
        <p:spPr>
          <a:xfrm>
            <a:off x="2534920" y="2392680"/>
            <a:ext cx="167640" cy="19050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Rounded Rectangle 54"/>
          <p:cNvSpPr/>
          <p:nvPr/>
        </p:nvSpPr>
        <p:spPr>
          <a:xfrm>
            <a:off x="2534920" y="2720340"/>
            <a:ext cx="167640" cy="19050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Rounded Rectangle 55"/>
          <p:cNvSpPr/>
          <p:nvPr/>
        </p:nvSpPr>
        <p:spPr>
          <a:xfrm>
            <a:off x="2535555" y="3079115"/>
            <a:ext cx="167640" cy="19050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7" name="Rounded Rectangle 56"/>
          <p:cNvSpPr/>
          <p:nvPr/>
        </p:nvSpPr>
        <p:spPr>
          <a:xfrm>
            <a:off x="2535555" y="3427095"/>
            <a:ext cx="167640" cy="19050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8" name="Rounded Rectangle 57"/>
          <p:cNvSpPr/>
          <p:nvPr/>
        </p:nvSpPr>
        <p:spPr>
          <a:xfrm>
            <a:off x="4711065" y="1589405"/>
            <a:ext cx="167640" cy="19050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Rounded Rectangle 58"/>
          <p:cNvSpPr/>
          <p:nvPr/>
        </p:nvSpPr>
        <p:spPr>
          <a:xfrm>
            <a:off x="4705985" y="1906905"/>
            <a:ext cx="167640" cy="19050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Rounded Rectangle 61"/>
          <p:cNvSpPr/>
          <p:nvPr/>
        </p:nvSpPr>
        <p:spPr>
          <a:xfrm>
            <a:off x="4705985" y="2237740"/>
            <a:ext cx="167640" cy="19050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64" name="Table 63"/>
          <p:cNvGraphicFramePr/>
          <p:nvPr>
            <p:custDataLst>
              <p:tags r:id="rId26"/>
            </p:custDataLst>
          </p:nvPr>
        </p:nvGraphicFramePr>
        <p:xfrm>
          <a:off x="2664460" y="5682615"/>
          <a:ext cx="6092190" cy="1008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545"/>
                <a:gridCol w="677545"/>
                <a:gridCol w="675005"/>
                <a:gridCol w="808990"/>
                <a:gridCol w="546735"/>
                <a:gridCol w="675005"/>
                <a:gridCol w="679450"/>
                <a:gridCol w="674370"/>
                <a:gridCol w="677545"/>
              </a:tblGrid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Module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Bit 7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Bit 6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Bit 5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Bit 4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Bit 3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Bit 2 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Bit 1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Bit 0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829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APB</a:t>
                      </a:r>
                      <a:endParaRPr lang="en-US" sz="10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p_load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reserved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p_up_dw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p_en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sym typeface="+mn-ea"/>
                        </a:rPr>
                        <a:t>reserved</a:t>
                      </a:r>
                      <a:endParaRPr lang="en-US" sz="10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sym typeface="+mn-ea"/>
                        </a:rPr>
                        <a:t>reserved</a:t>
                      </a:r>
                      <a:endParaRPr lang="en-US" sz="10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p_cks[1]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sym typeface="+mn-ea"/>
                        </a:rPr>
                        <a:t>p_cks[0]</a:t>
                      </a:r>
                      <a:endParaRPr lang="en-US" sz="10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816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TCNT and CLK select</a:t>
                      </a:r>
                      <a:endParaRPr lang="en-US" sz="10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cnt_load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reserved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cnt_up_dw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cnt_en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sym typeface="+mn-ea"/>
                        </a:rPr>
                        <a:t>reserved</a:t>
                      </a:r>
                      <a:endParaRPr lang="en-US" sz="10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sym typeface="+mn-ea"/>
                        </a:rPr>
                        <a:t>reserved</a:t>
                      </a:r>
                      <a:endParaRPr lang="en-US" sz="10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cks[1]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sym typeface="+mn-ea"/>
                        </a:rPr>
                        <a:t>cks[0]</a:t>
                      </a:r>
                      <a:endParaRPr lang="en-US" sz="10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6" name="Text Box 65"/>
          <p:cNvSpPr txBox="1"/>
          <p:nvPr/>
        </p:nvSpPr>
        <p:spPr>
          <a:xfrm>
            <a:off x="4878705" y="528383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/>
              <a:t>Port for TCR </a:t>
            </a:r>
            <a:endParaRPr lang="en-US" sz="2000" b="1"/>
          </a:p>
        </p:txBody>
      </p:sp>
      <p:sp>
        <p:nvSpPr>
          <p:cNvPr id="31" name="Text Box 30"/>
          <p:cNvSpPr txBox="1"/>
          <p:nvPr>
            <p:custDataLst>
              <p:tags r:id="rId27"/>
            </p:custDataLst>
          </p:nvPr>
        </p:nvSpPr>
        <p:spPr>
          <a:xfrm>
            <a:off x="1546225" y="4429125"/>
            <a:ext cx="10909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clear_ovf_udf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1747520" y="4677410"/>
            <a:ext cx="866775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prstClr val="black"/>
          </a:fillRef>
          <a:effectRef idx="1">
            <a:prstClr val="black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Text Box 39"/>
          <p:cNvSpPr txBox="1"/>
          <p:nvPr>
            <p:custDataLst>
              <p:tags r:id="rId1"/>
            </p:custDataLst>
          </p:nvPr>
        </p:nvSpPr>
        <p:spPr>
          <a:xfrm>
            <a:off x="3425190" y="1244600"/>
            <a:ext cx="3675380" cy="463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>
                <a:solidFill>
                  <a:srgbClr val="FF0000"/>
                </a:solidFill>
              </a:rPr>
              <a:t>TCR</a:t>
            </a:r>
            <a:r>
              <a:rPr lang="en-US">
                <a:solidFill>
                  <a:srgbClr val="FF0000"/>
                </a:solidFill>
              </a:rPr>
              <a:t>(Timer counter control Register)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60" name="Rectangles 59"/>
          <p:cNvSpPr/>
          <p:nvPr>
            <p:custDataLst>
              <p:tags r:id="rId2"/>
            </p:custDataLst>
          </p:nvPr>
        </p:nvSpPr>
        <p:spPr>
          <a:xfrm>
            <a:off x="3405505" y="1244600"/>
            <a:ext cx="3818890" cy="405574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3467100" y="1691005"/>
            <a:ext cx="11607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/>
              <a:t>TCR[0]: cks0 </a:t>
            </a:r>
            <a:endParaRPr lang="en-US" sz="1000" b="1"/>
          </a:p>
        </p:txBody>
      </p:sp>
      <p:sp>
        <p:nvSpPr>
          <p:cNvPr id="3" name="Text Box 2"/>
          <p:cNvSpPr txBox="1"/>
          <p:nvPr/>
        </p:nvSpPr>
        <p:spPr>
          <a:xfrm>
            <a:off x="3467100" y="1894205"/>
            <a:ext cx="11607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/>
              <a:t>TCR[1]: cks1</a:t>
            </a:r>
            <a:endParaRPr lang="en-US" sz="1000" b="1"/>
          </a:p>
        </p:txBody>
      </p:sp>
      <p:sp>
        <p:nvSpPr>
          <p:cNvPr id="5" name="Text Box 4"/>
          <p:cNvSpPr txBox="1"/>
          <p:nvPr/>
        </p:nvSpPr>
        <p:spPr>
          <a:xfrm>
            <a:off x="3425825" y="2800350"/>
            <a:ext cx="11620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/>
              <a:t>TCR[3]: Reserved</a:t>
            </a:r>
            <a:endParaRPr lang="en-US" sz="1000" b="1"/>
          </a:p>
        </p:txBody>
      </p:sp>
      <p:sp>
        <p:nvSpPr>
          <p:cNvPr id="6" name="Text Box 5"/>
          <p:cNvSpPr txBox="1"/>
          <p:nvPr/>
        </p:nvSpPr>
        <p:spPr>
          <a:xfrm>
            <a:off x="3415030" y="3741420"/>
            <a:ext cx="11518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/>
              <a:t>TCR[5]: Up/Dw</a:t>
            </a:r>
            <a:endParaRPr lang="en-US" sz="1000" b="1"/>
          </a:p>
        </p:txBody>
      </p:sp>
      <p:sp>
        <p:nvSpPr>
          <p:cNvPr id="7" name="Text Box 6"/>
          <p:cNvSpPr txBox="1"/>
          <p:nvPr/>
        </p:nvSpPr>
        <p:spPr>
          <a:xfrm>
            <a:off x="3425190" y="3236595"/>
            <a:ext cx="7416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/>
              <a:t>TCR[4]: En</a:t>
            </a:r>
            <a:endParaRPr lang="en-US" sz="1000" b="1"/>
          </a:p>
        </p:txBody>
      </p:sp>
      <p:sp>
        <p:nvSpPr>
          <p:cNvPr id="8" name="Text Box 7"/>
          <p:cNvSpPr txBox="1"/>
          <p:nvPr/>
        </p:nvSpPr>
        <p:spPr>
          <a:xfrm>
            <a:off x="3413125" y="4210050"/>
            <a:ext cx="11626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/>
              <a:t>TCR[6]: Reserved</a:t>
            </a:r>
            <a:endParaRPr lang="en-US" sz="1000" b="1"/>
          </a:p>
        </p:txBody>
      </p:sp>
      <p:sp>
        <p:nvSpPr>
          <p:cNvPr id="9" name="Text Box 8"/>
          <p:cNvSpPr txBox="1"/>
          <p:nvPr/>
        </p:nvSpPr>
        <p:spPr>
          <a:xfrm>
            <a:off x="3405505" y="4639945"/>
            <a:ext cx="11633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/>
              <a:t>TCR[7]: Load</a:t>
            </a:r>
            <a:endParaRPr lang="en-US" sz="1000" b="1"/>
          </a:p>
        </p:txBody>
      </p:sp>
      <p:sp>
        <p:nvSpPr>
          <p:cNvPr id="10" name="Rounded Rectangle 9"/>
          <p:cNvSpPr/>
          <p:nvPr/>
        </p:nvSpPr>
        <p:spPr>
          <a:xfrm>
            <a:off x="3509645" y="1727200"/>
            <a:ext cx="752475" cy="37465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10" idx="3"/>
          </p:cNvCxnSpPr>
          <p:nvPr/>
        </p:nvCxnSpPr>
        <p:spPr>
          <a:xfrm>
            <a:off x="4262120" y="1914525"/>
            <a:ext cx="4762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38370" y="1727200"/>
            <a:ext cx="2275205" cy="37465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4752975" y="1727200"/>
            <a:ext cx="11537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Select internal clocks for circuit</a:t>
            </a:r>
            <a:endParaRPr lang="en-US" sz="1000"/>
          </a:p>
        </p:txBody>
      </p:sp>
      <p:cxnSp>
        <p:nvCxnSpPr>
          <p:cNvPr id="15" name="Straight Connector 14"/>
          <p:cNvCxnSpPr/>
          <p:nvPr/>
        </p:nvCxnSpPr>
        <p:spPr>
          <a:xfrm>
            <a:off x="5937250" y="1727200"/>
            <a:ext cx="0" cy="374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191250" y="1727200"/>
            <a:ext cx="0" cy="374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445250" y="1727200"/>
            <a:ext cx="0" cy="374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699250" y="1727200"/>
            <a:ext cx="0" cy="374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Text Box 20"/>
          <p:cNvSpPr txBox="1"/>
          <p:nvPr/>
        </p:nvSpPr>
        <p:spPr>
          <a:xfrm>
            <a:off x="5871210" y="1691005"/>
            <a:ext cx="387350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000" b="1"/>
              <a:t>00</a:t>
            </a:r>
            <a:endParaRPr lang="en-US" sz="1000" b="1"/>
          </a:p>
          <a:p>
            <a:pPr algn="ctr"/>
            <a:r>
              <a:rPr lang="en-US" sz="1000"/>
              <a:t>T*2</a:t>
            </a:r>
            <a:endParaRPr lang="en-US" sz="1000"/>
          </a:p>
        </p:txBody>
      </p:sp>
      <p:sp>
        <p:nvSpPr>
          <p:cNvPr id="22" name="Text Box 21"/>
          <p:cNvSpPr txBox="1"/>
          <p:nvPr/>
        </p:nvSpPr>
        <p:spPr>
          <a:xfrm>
            <a:off x="6124575" y="1691005"/>
            <a:ext cx="387350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000" b="1"/>
              <a:t>01</a:t>
            </a:r>
            <a:endParaRPr lang="en-US" sz="1000" b="1"/>
          </a:p>
          <a:p>
            <a:pPr algn="ctr"/>
            <a:r>
              <a:rPr lang="en-US" sz="1000"/>
              <a:t>T*4</a:t>
            </a:r>
            <a:endParaRPr lang="en-US" sz="1000"/>
          </a:p>
        </p:txBody>
      </p:sp>
      <p:sp>
        <p:nvSpPr>
          <p:cNvPr id="23" name="Text Box 22"/>
          <p:cNvSpPr txBox="1"/>
          <p:nvPr/>
        </p:nvSpPr>
        <p:spPr>
          <a:xfrm>
            <a:off x="6377940" y="1691005"/>
            <a:ext cx="387350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000" b="1"/>
              <a:t>10</a:t>
            </a:r>
            <a:endParaRPr lang="en-US" sz="1000" b="1"/>
          </a:p>
          <a:p>
            <a:pPr algn="ctr"/>
            <a:r>
              <a:rPr lang="en-US" sz="1000"/>
              <a:t>T*8</a:t>
            </a:r>
            <a:endParaRPr lang="en-US" sz="1000"/>
          </a:p>
        </p:txBody>
      </p:sp>
      <p:sp>
        <p:nvSpPr>
          <p:cNvPr id="24" name="Text Box 23"/>
          <p:cNvSpPr txBox="1"/>
          <p:nvPr/>
        </p:nvSpPr>
        <p:spPr>
          <a:xfrm>
            <a:off x="6631940" y="1691005"/>
            <a:ext cx="468630" cy="351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000" b="1"/>
              <a:t>11</a:t>
            </a:r>
            <a:endParaRPr lang="en-US" sz="1000" b="1"/>
          </a:p>
          <a:p>
            <a:pPr algn="ctr"/>
            <a:r>
              <a:rPr lang="en-US" sz="1000"/>
              <a:t>T*16</a:t>
            </a:r>
            <a:endParaRPr lang="en-US" sz="1000"/>
          </a:p>
        </p:txBody>
      </p:sp>
      <p:sp>
        <p:nvSpPr>
          <p:cNvPr id="26" name="Rounded Rectangle 25"/>
          <p:cNvSpPr/>
          <p:nvPr/>
        </p:nvSpPr>
        <p:spPr>
          <a:xfrm>
            <a:off x="3509645" y="2835910"/>
            <a:ext cx="945515" cy="17145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42" name="Group 41"/>
          <p:cNvGrpSpPr/>
          <p:nvPr/>
        </p:nvGrpSpPr>
        <p:grpSpPr>
          <a:xfrm>
            <a:off x="3422650" y="2347595"/>
            <a:ext cx="1160780" cy="245110"/>
            <a:chOff x="2829" y="2727"/>
            <a:chExt cx="1828" cy="386"/>
          </a:xfrm>
        </p:grpSpPr>
        <p:sp>
          <p:nvSpPr>
            <p:cNvPr id="4" name="Text Box 3"/>
            <p:cNvSpPr txBox="1"/>
            <p:nvPr/>
          </p:nvSpPr>
          <p:spPr>
            <a:xfrm>
              <a:off x="2829" y="2727"/>
              <a:ext cx="1829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000" b="1"/>
                <a:t>TCR[2]: Reserved</a:t>
              </a:r>
              <a:endParaRPr lang="en-US" sz="1000" b="1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962" y="2783"/>
              <a:ext cx="1489" cy="27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3509010" y="3288665"/>
            <a:ext cx="594995" cy="17145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3475990" y="3778250"/>
            <a:ext cx="857250" cy="17145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3475990" y="4246245"/>
            <a:ext cx="945515" cy="17145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3475990" y="4677410"/>
            <a:ext cx="751840" cy="17145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28" idx="3"/>
          </p:cNvCxnSpPr>
          <p:nvPr/>
        </p:nvCxnSpPr>
        <p:spPr>
          <a:xfrm>
            <a:off x="4104005" y="3374390"/>
            <a:ext cx="61150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715510" y="3187065"/>
            <a:ext cx="2275205" cy="37465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Text Box 33"/>
          <p:cNvSpPr txBox="1"/>
          <p:nvPr/>
        </p:nvSpPr>
        <p:spPr>
          <a:xfrm>
            <a:off x="4730115" y="3187065"/>
            <a:ext cx="11537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Enable the counter circuit</a:t>
            </a:r>
            <a:endParaRPr lang="en-US" sz="1000"/>
          </a:p>
        </p:txBody>
      </p:sp>
      <p:cxnSp>
        <p:nvCxnSpPr>
          <p:cNvPr id="36" name="Straight Connector 35"/>
          <p:cNvCxnSpPr/>
          <p:nvPr/>
        </p:nvCxnSpPr>
        <p:spPr>
          <a:xfrm>
            <a:off x="5914390" y="3187065"/>
            <a:ext cx="0" cy="374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6422390" y="3187065"/>
            <a:ext cx="0" cy="374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Text Box 38"/>
          <p:cNvSpPr txBox="1"/>
          <p:nvPr/>
        </p:nvSpPr>
        <p:spPr>
          <a:xfrm>
            <a:off x="5848985" y="3175000"/>
            <a:ext cx="591820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000" b="1"/>
              <a:t>0</a:t>
            </a:r>
            <a:endParaRPr lang="en-US" sz="1000" b="1"/>
          </a:p>
          <a:p>
            <a:pPr algn="ctr"/>
            <a:r>
              <a:rPr lang="en-US" sz="1000"/>
              <a:t>Disable</a:t>
            </a:r>
            <a:endParaRPr lang="en-US" sz="1000"/>
          </a:p>
        </p:txBody>
      </p:sp>
      <p:sp>
        <p:nvSpPr>
          <p:cNvPr id="41" name="Text Box 40"/>
          <p:cNvSpPr txBox="1"/>
          <p:nvPr/>
        </p:nvSpPr>
        <p:spPr>
          <a:xfrm>
            <a:off x="6421755" y="3175000"/>
            <a:ext cx="568960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000" b="1"/>
              <a:t>1</a:t>
            </a:r>
            <a:endParaRPr lang="en-US" sz="1000" b="1"/>
          </a:p>
          <a:p>
            <a:pPr algn="ctr"/>
            <a:r>
              <a:rPr lang="en-US" sz="1000"/>
              <a:t>Enable</a:t>
            </a:r>
            <a:endParaRPr lang="en-US" sz="1000"/>
          </a:p>
        </p:txBody>
      </p:sp>
      <p:sp>
        <p:nvSpPr>
          <p:cNvPr id="55" name="Rounded Rectangle 54"/>
          <p:cNvSpPr/>
          <p:nvPr/>
        </p:nvSpPr>
        <p:spPr>
          <a:xfrm>
            <a:off x="4714875" y="3676650"/>
            <a:ext cx="2275205" cy="37465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Text Box 55"/>
          <p:cNvSpPr txBox="1"/>
          <p:nvPr/>
        </p:nvSpPr>
        <p:spPr>
          <a:xfrm>
            <a:off x="4729480" y="3676650"/>
            <a:ext cx="12846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Control counter up or counter down</a:t>
            </a:r>
            <a:endParaRPr lang="en-US" sz="1000"/>
          </a:p>
        </p:txBody>
      </p:sp>
      <p:cxnSp>
        <p:nvCxnSpPr>
          <p:cNvPr id="57" name="Straight Connector 56"/>
          <p:cNvCxnSpPr/>
          <p:nvPr/>
        </p:nvCxnSpPr>
        <p:spPr>
          <a:xfrm>
            <a:off x="5913755" y="3676650"/>
            <a:ext cx="0" cy="374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6421755" y="3676650"/>
            <a:ext cx="0" cy="374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Text Box 58"/>
          <p:cNvSpPr txBox="1"/>
          <p:nvPr/>
        </p:nvSpPr>
        <p:spPr>
          <a:xfrm>
            <a:off x="5848350" y="3664585"/>
            <a:ext cx="591820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000" b="1"/>
              <a:t>0</a:t>
            </a:r>
            <a:endParaRPr lang="en-US" sz="1000" b="1"/>
          </a:p>
          <a:p>
            <a:pPr algn="ctr"/>
            <a:r>
              <a:rPr lang="en-US" sz="1000"/>
              <a:t>Up</a:t>
            </a:r>
            <a:endParaRPr lang="en-US" sz="1000"/>
          </a:p>
        </p:txBody>
      </p:sp>
      <p:sp>
        <p:nvSpPr>
          <p:cNvPr id="61" name="Text Box 60"/>
          <p:cNvSpPr txBox="1"/>
          <p:nvPr/>
        </p:nvSpPr>
        <p:spPr>
          <a:xfrm>
            <a:off x="6421120" y="3664585"/>
            <a:ext cx="568960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000" b="1"/>
              <a:t>1</a:t>
            </a:r>
            <a:endParaRPr lang="en-US" sz="1000" b="1"/>
          </a:p>
          <a:p>
            <a:pPr algn="ctr"/>
            <a:r>
              <a:rPr lang="en-US" sz="1000"/>
              <a:t>Down</a:t>
            </a:r>
            <a:endParaRPr lang="en-US" sz="1000"/>
          </a:p>
        </p:txBody>
      </p:sp>
      <p:cxnSp>
        <p:nvCxnSpPr>
          <p:cNvPr id="62" name="Straight Arrow Connector 61"/>
          <p:cNvCxnSpPr>
            <a:endCxn id="56" idx="1"/>
          </p:cNvCxnSpPr>
          <p:nvPr/>
        </p:nvCxnSpPr>
        <p:spPr>
          <a:xfrm>
            <a:off x="4342130" y="3875405"/>
            <a:ext cx="387350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4715510" y="4563745"/>
            <a:ext cx="2384425" cy="55308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4" name="Text Box 63"/>
          <p:cNvSpPr txBox="1"/>
          <p:nvPr/>
        </p:nvSpPr>
        <p:spPr>
          <a:xfrm>
            <a:off x="4674870" y="4563745"/>
            <a:ext cx="141160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Manual load data from TDR to TCNT when it </a:t>
            </a:r>
            <a:endParaRPr lang="en-US" sz="1000"/>
          </a:p>
          <a:p>
            <a:r>
              <a:rPr lang="en-US" sz="1000"/>
              <a:t>active High.</a:t>
            </a:r>
            <a:endParaRPr lang="en-US" sz="1000"/>
          </a:p>
        </p:txBody>
      </p:sp>
      <p:cxnSp>
        <p:nvCxnSpPr>
          <p:cNvPr id="65" name="Straight Connector 64"/>
          <p:cNvCxnSpPr/>
          <p:nvPr/>
        </p:nvCxnSpPr>
        <p:spPr>
          <a:xfrm>
            <a:off x="5979795" y="4563745"/>
            <a:ext cx="0" cy="5518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6541770" y="4563745"/>
            <a:ext cx="0" cy="5518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Text Box 66"/>
          <p:cNvSpPr txBox="1"/>
          <p:nvPr/>
        </p:nvSpPr>
        <p:spPr>
          <a:xfrm>
            <a:off x="5914390" y="4542155"/>
            <a:ext cx="695325" cy="607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000" b="1"/>
              <a:t>0</a:t>
            </a:r>
            <a:endParaRPr lang="en-US" sz="1000" b="1"/>
          </a:p>
          <a:p>
            <a:pPr algn="ctr"/>
            <a:r>
              <a:rPr lang="en-US" sz="1000"/>
              <a:t>Load data to TCNT</a:t>
            </a:r>
            <a:endParaRPr lang="en-US" sz="1000"/>
          </a:p>
        </p:txBody>
      </p:sp>
      <p:sp>
        <p:nvSpPr>
          <p:cNvPr id="68" name="Text Box 67"/>
          <p:cNvSpPr txBox="1"/>
          <p:nvPr/>
        </p:nvSpPr>
        <p:spPr>
          <a:xfrm>
            <a:off x="6445250" y="4542155"/>
            <a:ext cx="723265" cy="607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000" b="1"/>
              <a:t>1</a:t>
            </a:r>
            <a:endParaRPr lang="en-US" sz="1000" b="1"/>
          </a:p>
          <a:p>
            <a:pPr algn="ctr"/>
            <a:r>
              <a:rPr lang="en-US" sz="1000"/>
              <a:t> Normal operation</a:t>
            </a:r>
            <a:endParaRPr lang="en-US" sz="1000"/>
          </a:p>
        </p:txBody>
      </p:sp>
      <p:cxnSp>
        <p:nvCxnSpPr>
          <p:cNvPr id="69" name="Straight Arrow Connector 68"/>
          <p:cNvCxnSpPr>
            <a:stCxn id="20" idx="3"/>
          </p:cNvCxnSpPr>
          <p:nvPr/>
        </p:nvCxnSpPr>
        <p:spPr>
          <a:xfrm>
            <a:off x="4227830" y="4763135"/>
            <a:ext cx="487045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Rectangles 69"/>
          <p:cNvSpPr/>
          <p:nvPr>
            <p:custDataLst>
              <p:tags r:id="rId3"/>
            </p:custDataLst>
          </p:nvPr>
        </p:nvSpPr>
        <p:spPr>
          <a:xfrm>
            <a:off x="7827645" y="1244600"/>
            <a:ext cx="3818890" cy="405574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Text Box 70"/>
          <p:cNvSpPr txBox="1"/>
          <p:nvPr>
            <p:custDataLst>
              <p:tags r:id="rId4"/>
            </p:custDataLst>
          </p:nvPr>
        </p:nvSpPr>
        <p:spPr>
          <a:xfrm>
            <a:off x="7827645" y="1263650"/>
            <a:ext cx="3672840" cy="463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>
                <a:solidFill>
                  <a:srgbClr val="FF0000"/>
                </a:solidFill>
              </a:rPr>
              <a:t>TSR</a:t>
            </a:r>
            <a:r>
              <a:rPr lang="en-US">
                <a:solidFill>
                  <a:srgbClr val="FF0000"/>
                </a:solidFill>
              </a:rPr>
              <a:t>(Time Status Register)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8047355" y="2347595"/>
            <a:ext cx="1339215" cy="37465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4" name="Text Box 73"/>
          <p:cNvSpPr txBox="1"/>
          <p:nvPr/>
        </p:nvSpPr>
        <p:spPr>
          <a:xfrm>
            <a:off x="8129905" y="2412365"/>
            <a:ext cx="1174115" cy="2451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TSR</a:t>
            </a:r>
            <a:r>
              <a:rPr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[1] </a:t>
            </a:r>
            <a:endParaRPr sz="1000" b="1" i="0">
              <a:solidFill>
                <a:schemeClr val="tx1"/>
              </a:solidFill>
              <a:latin typeface="Segoe UI Historic" panose="020B0502040204020203"/>
              <a:ea typeface="Segoe UI Historic" panose="020B0502040204020203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8047355" y="3806190"/>
            <a:ext cx="1339215" cy="37465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6" name="Text Box 75"/>
          <p:cNvSpPr txBox="1"/>
          <p:nvPr/>
        </p:nvSpPr>
        <p:spPr>
          <a:xfrm>
            <a:off x="8129905" y="3870960"/>
            <a:ext cx="1174115" cy="2451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TSR</a:t>
            </a:r>
            <a:r>
              <a:rPr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[</a:t>
            </a:r>
            <a:r>
              <a:rPr lang="en-US"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0</a:t>
            </a:r>
            <a:r>
              <a:rPr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] </a:t>
            </a:r>
            <a:endParaRPr sz="1000" b="1" i="0">
              <a:solidFill>
                <a:schemeClr val="tx1"/>
              </a:solidFill>
              <a:latin typeface="Segoe UI Historic" panose="020B0502040204020203"/>
              <a:ea typeface="Segoe UI Historic" panose="020B0502040204020203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9697720" y="2000250"/>
            <a:ext cx="1750695" cy="107251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9" name="Text Box 78"/>
          <p:cNvSpPr txBox="1"/>
          <p:nvPr/>
        </p:nvSpPr>
        <p:spPr>
          <a:xfrm>
            <a:off x="9734550" y="2101850"/>
            <a:ext cx="1765935" cy="8604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- </a:t>
            </a:r>
            <a:r>
              <a:rPr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Timer counter underflow when counter 8’h00 down to</a:t>
            </a:r>
            <a:r>
              <a:rPr lang="en-US"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 </a:t>
            </a:r>
            <a:r>
              <a:rPr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8’hff</a:t>
            </a:r>
            <a:r>
              <a:rPr lang="en-US"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.</a:t>
            </a:r>
            <a:endParaRPr sz="1000" b="1" i="0">
              <a:solidFill>
                <a:schemeClr val="tx1"/>
              </a:solidFill>
              <a:latin typeface="Segoe UI Historic" panose="020B0502040204020203"/>
              <a:ea typeface="Segoe UI Historic" panose="020B0502040204020203"/>
            </a:endParaRPr>
          </a:p>
          <a:p>
            <a:pPr marL="0" indent="0" algn="l"/>
            <a:r>
              <a:rPr lang="en-US"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- </a:t>
            </a:r>
            <a:r>
              <a:rPr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This bit is only set by hardware, clear by software</a:t>
            </a:r>
            <a:r>
              <a:rPr lang="en-US"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.</a:t>
            </a:r>
            <a:endParaRPr lang="en-US" sz="1000" b="1" i="0">
              <a:solidFill>
                <a:schemeClr val="tx1"/>
              </a:solidFill>
              <a:latin typeface="Segoe UI Historic" panose="020B0502040204020203"/>
              <a:ea typeface="Segoe UI Historic" panose="020B0502040204020203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9697720" y="3409950"/>
            <a:ext cx="1750695" cy="107251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1" name="Text Box 80"/>
          <p:cNvSpPr txBox="1"/>
          <p:nvPr/>
        </p:nvSpPr>
        <p:spPr>
          <a:xfrm>
            <a:off x="9734550" y="3515995"/>
            <a:ext cx="1765935" cy="8604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- </a:t>
            </a:r>
            <a:r>
              <a:rPr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Timer counter overflow when counter 8’hFF to 8’h00</a:t>
            </a:r>
            <a:r>
              <a:rPr lang="en-US"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.</a:t>
            </a:r>
            <a:endParaRPr sz="1000" b="1" i="0">
              <a:solidFill>
                <a:schemeClr val="tx1"/>
              </a:solidFill>
              <a:latin typeface="Segoe UI Historic" panose="020B0502040204020203"/>
              <a:ea typeface="Segoe UI Historic" panose="020B0502040204020203"/>
            </a:endParaRPr>
          </a:p>
          <a:p>
            <a:pPr marL="0" indent="0" algn="l"/>
            <a:r>
              <a:rPr lang="en-US"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- </a:t>
            </a:r>
            <a:r>
              <a:rPr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This bit is only set by hardware, clear by software</a:t>
            </a:r>
            <a:r>
              <a:rPr lang="en-US" sz="1000" b="1" i="0">
                <a:solidFill>
                  <a:schemeClr val="tx1"/>
                </a:solidFill>
                <a:latin typeface="Segoe UI Historic" panose="020B0502040204020203"/>
                <a:ea typeface="Segoe UI Historic" panose="020B0502040204020203"/>
              </a:rPr>
              <a:t>.</a:t>
            </a:r>
            <a:endParaRPr lang="en-US" sz="1000" b="1" i="0">
              <a:solidFill>
                <a:schemeClr val="tx1"/>
              </a:solidFill>
              <a:latin typeface="Segoe UI Historic" panose="020B0502040204020203"/>
              <a:ea typeface="Segoe UI Historic" panose="020B0502040204020203"/>
            </a:endParaRPr>
          </a:p>
        </p:txBody>
      </p:sp>
      <p:cxnSp>
        <p:nvCxnSpPr>
          <p:cNvPr id="83" name="Straight Arrow Connector 82"/>
          <p:cNvCxnSpPr>
            <a:stCxn id="72" idx="3"/>
            <a:endCxn id="77" idx="1"/>
          </p:cNvCxnSpPr>
          <p:nvPr/>
        </p:nvCxnSpPr>
        <p:spPr>
          <a:xfrm>
            <a:off x="9386570" y="2534920"/>
            <a:ext cx="31115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9386570" y="3984625"/>
            <a:ext cx="31115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5" name="Text Box 84"/>
          <p:cNvSpPr txBox="1"/>
          <p:nvPr>
            <p:custDataLst>
              <p:tags r:id="rId5"/>
            </p:custDataLst>
          </p:nvPr>
        </p:nvSpPr>
        <p:spPr>
          <a:xfrm>
            <a:off x="302895" y="1263650"/>
            <a:ext cx="2739390" cy="463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>
                <a:solidFill>
                  <a:srgbClr val="FF0000"/>
                </a:solidFill>
              </a:rPr>
              <a:t>TDR</a:t>
            </a:r>
            <a:r>
              <a:rPr lang="en-US">
                <a:solidFill>
                  <a:srgbClr val="FF0000"/>
                </a:solidFill>
              </a:rPr>
              <a:t>(Timer Data Register)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6" name="Rectangles 85"/>
          <p:cNvSpPr/>
          <p:nvPr>
            <p:custDataLst>
              <p:tags r:id="rId6"/>
            </p:custDataLst>
          </p:nvPr>
        </p:nvSpPr>
        <p:spPr>
          <a:xfrm>
            <a:off x="328930" y="1244600"/>
            <a:ext cx="2600960" cy="21971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8" name="Text Box 87"/>
          <p:cNvSpPr txBox="1"/>
          <p:nvPr/>
        </p:nvSpPr>
        <p:spPr>
          <a:xfrm>
            <a:off x="329565" y="1773555"/>
            <a:ext cx="2713355" cy="160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- This register contains the data used for updating the value of counter when this register is updated to new value.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5" name="Straight Connector 4"/>
          <p:cNvCxnSpPr/>
          <p:nvPr/>
        </p:nvCxnSpPr>
        <p:spPr>
          <a:xfrm flipV="1">
            <a:off x="3322955" y="764794"/>
            <a:ext cx="34036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3661410" y="755015"/>
            <a:ext cx="3175" cy="9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3662045" y="103695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996055" y="74866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3998595" y="75311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4325620" y="75501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4326255" y="103695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4660265" y="74866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666615" y="75501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 flipV="1">
            <a:off x="4993640" y="75692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4994275" y="103886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328285" y="75057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5330825" y="75501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 flipV="1">
            <a:off x="5657850" y="75692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5658485" y="103886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5992495" y="75057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5998845" y="75692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6325870" y="75882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326505" y="104076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6660515" y="75247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6663055" y="75692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 flipV="1">
            <a:off x="6990080" y="75882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6990715" y="104076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7324725" y="75247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7331075" y="75882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 flipV="1">
            <a:off x="7658100" y="76073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7658735" y="104267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7992745" y="75438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7995285" y="75882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 flipV="1">
            <a:off x="8322310" y="76073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8322945" y="104267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8656955" y="75438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8663305" y="76073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 flipV="1">
            <a:off x="8990330" y="76263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8990965" y="104457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9324975" y="75628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9327515" y="76073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 flipV="1">
            <a:off x="9654540" y="76263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9655175" y="104457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9989185" y="75628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9995535" y="76263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 flipV="1">
            <a:off x="10322560" y="76454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10323195" y="104648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10657205" y="75819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10659745" y="76263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Rectangles 69"/>
          <p:cNvSpPr/>
          <p:nvPr/>
        </p:nvSpPr>
        <p:spPr>
          <a:xfrm>
            <a:off x="2294255" y="520700"/>
            <a:ext cx="9308465" cy="28562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71" name="Straight Connector 70"/>
          <p:cNvCxnSpPr/>
          <p:nvPr/>
        </p:nvCxnSpPr>
        <p:spPr>
          <a:xfrm flipV="1">
            <a:off x="3349625" y="1607185"/>
            <a:ext cx="7980680" cy="24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3342005" y="2186940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 flipV="1">
            <a:off x="3665220" y="76835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4685030" y="1882140"/>
            <a:ext cx="117475" cy="306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V="1">
            <a:off x="4802505" y="1882140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6142355" y="1870710"/>
            <a:ext cx="1250950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H="1" flipV="1">
            <a:off x="7384415" y="1870710"/>
            <a:ext cx="107950" cy="3092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7492365" y="2177415"/>
            <a:ext cx="1330325" cy="2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V="1">
            <a:off x="8818880" y="1870710"/>
            <a:ext cx="117475" cy="306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V="1">
            <a:off x="8936355" y="1870710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V="1">
            <a:off x="10276205" y="1864995"/>
            <a:ext cx="1062355" cy="57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 flipV="1">
            <a:off x="3375025" y="2723515"/>
            <a:ext cx="1823085" cy="12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5316220" y="509270"/>
            <a:ext cx="3810" cy="2868930"/>
          </a:xfrm>
          <a:prstGeom prst="line">
            <a:avLst/>
          </a:prstGeom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flipV="1">
            <a:off x="3373755" y="3063240"/>
            <a:ext cx="1823085" cy="12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V="1">
            <a:off x="5459730" y="2714625"/>
            <a:ext cx="1923415" cy="88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 flipV="1">
            <a:off x="5458460" y="3053080"/>
            <a:ext cx="1914525" cy="10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V="1">
            <a:off x="5196840" y="2720340"/>
            <a:ext cx="276225" cy="3549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flipH="1" flipV="1">
            <a:off x="5206365" y="2703195"/>
            <a:ext cx="266700" cy="372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H="1">
            <a:off x="9316720" y="522605"/>
            <a:ext cx="1905" cy="2849245"/>
          </a:xfrm>
          <a:prstGeom prst="line">
            <a:avLst/>
          </a:prstGeom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 flipV="1">
            <a:off x="7368540" y="2702560"/>
            <a:ext cx="1822450" cy="165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V="1">
            <a:off x="7366635" y="3042285"/>
            <a:ext cx="1823085" cy="12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V="1">
            <a:off x="9452610" y="2686685"/>
            <a:ext cx="1877695" cy="15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9451340" y="3025140"/>
            <a:ext cx="1883410" cy="17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V="1">
            <a:off x="9189720" y="2699385"/>
            <a:ext cx="276225" cy="3549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H="1" flipV="1">
            <a:off x="9199245" y="2682240"/>
            <a:ext cx="266700" cy="372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 flipH="1" flipV="1">
            <a:off x="10993120" y="77025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V="1">
            <a:off x="10993755" y="105219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8" name="Text Box 107"/>
          <p:cNvSpPr txBox="1"/>
          <p:nvPr/>
        </p:nvSpPr>
        <p:spPr>
          <a:xfrm>
            <a:off x="2760980" y="746760"/>
            <a:ext cx="561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clk</a:t>
            </a:r>
            <a:endParaRPr lang="en-US"/>
          </a:p>
        </p:txBody>
      </p:sp>
      <p:sp>
        <p:nvSpPr>
          <p:cNvPr id="109" name="Text Box 108"/>
          <p:cNvSpPr txBox="1"/>
          <p:nvPr/>
        </p:nvSpPr>
        <p:spPr>
          <a:xfrm>
            <a:off x="2347595" y="1407795"/>
            <a:ext cx="1095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Up/Down</a:t>
            </a:r>
            <a:endParaRPr lang="en-US"/>
          </a:p>
        </p:txBody>
      </p:sp>
      <p:sp>
        <p:nvSpPr>
          <p:cNvPr id="110" name="Text Box 109"/>
          <p:cNvSpPr txBox="1"/>
          <p:nvPr/>
        </p:nvSpPr>
        <p:spPr>
          <a:xfrm>
            <a:off x="2574290" y="1934210"/>
            <a:ext cx="748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clk_in</a:t>
            </a:r>
            <a:endParaRPr lang="en-US"/>
          </a:p>
        </p:txBody>
      </p:sp>
      <p:sp>
        <p:nvSpPr>
          <p:cNvPr id="111" name="Text Box 110"/>
          <p:cNvSpPr txBox="1"/>
          <p:nvPr/>
        </p:nvSpPr>
        <p:spPr>
          <a:xfrm>
            <a:off x="2595245" y="2714625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CNT</a:t>
            </a:r>
            <a:endParaRPr lang="en-US"/>
          </a:p>
        </p:txBody>
      </p:sp>
      <p:sp>
        <p:nvSpPr>
          <p:cNvPr id="112" name="Text Box 111"/>
          <p:cNvSpPr txBox="1"/>
          <p:nvPr/>
        </p:nvSpPr>
        <p:spPr>
          <a:xfrm>
            <a:off x="3769995" y="2723515"/>
            <a:ext cx="1079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CNT - 1</a:t>
            </a:r>
            <a:endParaRPr lang="en-US"/>
          </a:p>
        </p:txBody>
      </p:sp>
      <p:sp>
        <p:nvSpPr>
          <p:cNvPr id="113" name="Text Box 112"/>
          <p:cNvSpPr txBox="1"/>
          <p:nvPr/>
        </p:nvSpPr>
        <p:spPr>
          <a:xfrm>
            <a:off x="7095490" y="2699385"/>
            <a:ext cx="685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CNT</a:t>
            </a:r>
            <a:endParaRPr lang="en-US"/>
          </a:p>
        </p:txBody>
      </p:sp>
      <p:sp>
        <p:nvSpPr>
          <p:cNvPr id="114" name="Text Box 113"/>
          <p:cNvSpPr txBox="1"/>
          <p:nvPr/>
        </p:nvSpPr>
        <p:spPr>
          <a:xfrm>
            <a:off x="9995535" y="2686685"/>
            <a:ext cx="1111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CNT + 1</a:t>
            </a:r>
            <a:endParaRPr lang="en-US"/>
          </a:p>
        </p:txBody>
      </p:sp>
      <p:cxnSp>
        <p:nvCxnSpPr>
          <p:cNvPr id="195" name="Straight Connector 194"/>
          <p:cNvCxnSpPr/>
          <p:nvPr/>
        </p:nvCxnSpPr>
        <p:spPr>
          <a:xfrm flipV="1">
            <a:off x="3322955" y="3742944"/>
            <a:ext cx="34036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/>
          <p:nvPr/>
        </p:nvCxnSpPr>
        <p:spPr>
          <a:xfrm flipH="1" flipV="1">
            <a:off x="3661410" y="3733165"/>
            <a:ext cx="3175" cy="9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 flipV="1">
            <a:off x="3662045" y="401510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Straight Arrow Connector 197"/>
          <p:cNvCxnSpPr/>
          <p:nvPr/>
        </p:nvCxnSpPr>
        <p:spPr>
          <a:xfrm flipV="1">
            <a:off x="3996055" y="372681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9" name="Straight Connector 198"/>
          <p:cNvCxnSpPr/>
          <p:nvPr/>
        </p:nvCxnSpPr>
        <p:spPr>
          <a:xfrm flipV="1">
            <a:off x="3998595" y="373126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 flipV="1">
            <a:off x="4325620" y="373316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V="1">
            <a:off x="4326255" y="401510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2" name="Straight Arrow Connector 201"/>
          <p:cNvCxnSpPr/>
          <p:nvPr/>
        </p:nvCxnSpPr>
        <p:spPr>
          <a:xfrm flipV="1">
            <a:off x="4660265" y="372681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3" name="Straight Connector 202"/>
          <p:cNvCxnSpPr/>
          <p:nvPr/>
        </p:nvCxnSpPr>
        <p:spPr>
          <a:xfrm flipV="1">
            <a:off x="4666615" y="373316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/>
          <p:nvPr/>
        </p:nvCxnSpPr>
        <p:spPr>
          <a:xfrm flipH="1" flipV="1">
            <a:off x="4993640" y="373507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/>
          <p:nvPr/>
        </p:nvCxnSpPr>
        <p:spPr>
          <a:xfrm flipV="1">
            <a:off x="4994275" y="401701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6" name="Straight Arrow Connector 205"/>
          <p:cNvCxnSpPr/>
          <p:nvPr/>
        </p:nvCxnSpPr>
        <p:spPr>
          <a:xfrm flipV="1">
            <a:off x="5328285" y="372872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/>
          <p:nvPr/>
        </p:nvCxnSpPr>
        <p:spPr>
          <a:xfrm flipV="1">
            <a:off x="5330825" y="373316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8" name="Straight Connector 207"/>
          <p:cNvCxnSpPr/>
          <p:nvPr/>
        </p:nvCxnSpPr>
        <p:spPr>
          <a:xfrm flipH="1" flipV="1">
            <a:off x="5657850" y="373507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9" name="Straight Connector 208"/>
          <p:cNvCxnSpPr/>
          <p:nvPr/>
        </p:nvCxnSpPr>
        <p:spPr>
          <a:xfrm flipV="1">
            <a:off x="5658485" y="401701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0" name="Straight Arrow Connector 209"/>
          <p:cNvCxnSpPr/>
          <p:nvPr/>
        </p:nvCxnSpPr>
        <p:spPr>
          <a:xfrm flipV="1">
            <a:off x="5992495" y="372872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 flipV="1">
            <a:off x="5998845" y="373507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 flipH="1" flipV="1">
            <a:off x="6325870" y="373697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3" name="Straight Connector 212"/>
          <p:cNvCxnSpPr/>
          <p:nvPr/>
        </p:nvCxnSpPr>
        <p:spPr>
          <a:xfrm flipV="1">
            <a:off x="6326505" y="401891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4" name="Straight Arrow Connector 213"/>
          <p:cNvCxnSpPr/>
          <p:nvPr/>
        </p:nvCxnSpPr>
        <p:spPr>
          <a:xfrm flipV="1">
            <a:off x="6660515" y="373062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5" name="Straight Connector 214"/>
          <p:cNvCxnSpPr/>
          <p:nvPr/>
        </p:nvCxnSpPr>
        <p:spPr>
          <a:xfrm flipV="1">
            <a:off x="6663055" y="373507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/>
          <p:nvPr/>
        </p:nvCxnSpPr>
        <p:spPr>
          <a:xfrm flipH="1" flipV="1">
            <a:off x="6990080" y="373697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/>
        </p:nvCxnSpPr>
        <p:spPr>
          <a:xfrm flipV="1">
            <a:off x="6990715" y="401891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8" name="Straight Arrow Connector 217"/>
          <p:cNvCxnSpPr/>
          <p:nvPr/>
        </p:nvCxnSpPr>
        <p:spPr>
          <a:xfrm flipV="1">
            <a:off x="7324725" y="373062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9" name="Straight Connector 218"/>
          <p:cNvCxnSpPr/>
          <p:nvPr/>
        </p:nvCxnSpPr>
        <p:spPr>
          <a:xfrm flipV="1">
            <a:off x="7331075" y="373697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0" name="Straight Connector 219"/>
          <p:cNvCxnSpPr/>
          <p:nvPr/>
        </p:nvCxnSpPr>
        <p:spPr>
          <a:xfrm flipH="1" flipV="1">
            <a:off x="7658100" y="373888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1" name="Straight Connector 220"/>
          <p:cNvCxnSpPr/>
          <p:nvPr/>
        </p:nvCxnSpPr>
        <p:spPr>
          <a:xfrm flipV="1">
            <a:off x="7658735" y="402082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2" name="Straight Arrow Connector 221"/>
          <p:cNvCxnSpPr/>
          <p:nvPr/>
        </p:nvCxnSpPr>
        <p:spPr>
          <a:xfrm flipV="1">
            <a:off x="7992745" y="373253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 flipV="1">
            <a:off x="7995285" y="373697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 flipH="1" flipV="1">
            <a:off x="8322310" y="373888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5" name="Straight Connector 224"/>
          <p:cNvCxnSpPr/>
          <p:nvPr/>
        </p:nvCxnSpPr>
        <p:spPr>
          <a:xfrm flipV="1">
            <a:off x="8322945" y="402082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6" name="Straight Arrow Connector 225"/>
          <p:cNvCxnSpPr/>
          <p:nvPr/>
        </p:nvCxnSpPr>
        <p:spPr>
          <a:xfrm flipV="1">
            <a:off x="8656955" y="373253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 flipV="1">
            <a:off x="8663305" y="373888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8" name="Straight Connector 227"/>
          <p:cNvCxnSpPr/>
          <p:nvPr/>
        </p:nvCxnSpPr>
        <p:spPr>
          <a:xfrm flipH="1" flipV="1">
            <a:off x="8990330" y="374078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 flipV="1">
            <a:off x="8990965" y="402272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0" name="Straight Arrow Connector 229"/>
          <p:cNvCxnSpPr/>
          <p:nvPr/>
        </p:nvCxnSpPr>
        <p:spPr>
          <a:xfrm flipV="1">
            <a:off x="9324975" y="373443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1" name="Straight Connector 230"/>
          <p:cNvCxnSpPr/>
          <p:nvPr/>
        </p:nvCxnSpPr>
        <p:spPr>
          <a:xfrm flipV="1">
            <a:off x="9327515" y="373888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2" name="Straight Connector 231"/>
          <p:cNvCxnSpPr/>
          <p:nvPr/>
        </p:nvCxnSpPr>
        <p:spPr>
          <a:xfrm flipH="1" flipV="1">
            <a:off x="9654540" y="374078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3" name="Straight Connector 232"/>
          <p:cNvCxnSpPr/>
          <p:nvPr/>
        </p:nvCxnSpPr>
        <p:spPr>
          <a:xfrm flipV="1">
            <a:off x="9655175" y="402272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4" name="Straight Arrow Connector 233"/>
          <p:cNvCxnSpPr/>
          <p:nvPr/>
        </p:nvCxnSpPr>
        <p:spPr>
          <a:xfrm flipV="1">
            <a:off x="9989185" y="373443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5" name="Straight Connector 234"/>
          <p:cNvCxnSpPr/>
          <p:nvPr/>
        </p:nvCxnSpPr>
        <p:spPr>
          <a:xfrm flipV="1">
            <a:off x="9995535" y="374078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6" name="Straight Connector 235"/>
          <p:cNvCxnSpPr/>
          <p:nvPr/>
        </p:nvCxnSpPr>
        <p:spPr>
          <a:xfrm flipH="1" flipV="1">
            <a:off x="10322560" y="374269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7" name="Straight Connector 236"/>
          <p:cNvCxnSpPr/>
          <p:nvPr/>
        </p:nvCxnSpPr>
        <p:spPr>
          <a:xfrm flipV="1">
            <a:off x="10323195" y="402463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8" name="Straight Arrow Connector 237"/>
          <p:cNvCxnSpPr/>
          <p:nvPr/>
        </p:nvCxnSpPr>
        <p:spPr>
          <a:xfrm flipV="1">
            <a:off x="10657205" y="373634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9" name="Straight Connector 238"/>
          <p:cNvCxnSpPr/>
          <p:nvPr/>
        </p:nvCxnSpPr>
        <p:spPr>
          <a:xfrm flipV="1">
            <a:off x="10659745" y="374078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0" name="Rectangles 239"/>
          <p:cNvSpPr/>
          <p:nvPr/>
        </p:nvSpPr>
        <p:spPr>
          <a:xfrm>
            <a:off x="2294255" y="3498850"/>
            <a:ext cx="9308465" cy="28562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41" name="Straight Connector 240"/>
          <p:cNvCxnSpPr/>
          <p:nvPr/>
        </p:nvCxnSpPr>
        <p:spPr>
          <a:xfrm flipV="1">
            <a:off x="3342005" y="4236085"/>
            <a:ext cx="7980680" cy="24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2" name="Straight Connector 241"/>
          <p:cNvCxnSpPr/>
          <p:nvPr/>
        </p:nvCxnSpPr>
        <p:spPr>
          <a:xfrm flipV="1">
            <a:off x="3342005" y="5165090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3" name="Straight Connector 242"/>
          <p:cNvCxnSpPr/>
          <p:nvPr/>
        </p:nvCxnSpPr>
        <p:spPr>
          <a:xfrm flipH="1" flipV="1">
            <a:off x="3665220" y="374650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4" name="Straight Connector 243"/>
          <p:cNvCxnSpPr/>
          <p:nvPr/>
        </p:nvCxnSpPr>
        <p:spPr>
          <a:xfrm flipV="1">
            <a:off x="4685030" y="4860290"/>
            <a:ext cx="117475" cy="306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5" name="Straight Connector 244"/>
          <p:cNvCxnSpPr/>
          <p:nvPr/>
        </p:nvCxnSpPr>
        <p:spPr>
          <a:xfrm flipV="1">
            <a:off x="4802505" y="4860290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6" name="Straight Connector 245"/>
          <p:cNvCxnSpPr/>
          <p:nvPr/>
        </p:nvCxnSpPr>
        <p:spPr>
          <a:xfrm flipV="1">
            <a:off x="6142355" y="4848860"/>
            <a:ext cx="1250950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7" name="Straight Connector 246"/>
          <p:cNvCxnSpPr/>
          <p:nvPr/>
        </p:nvCxnSpPr>
        <p:spPr>
          <a:xfrm flipH="1" flipV="1">
            <a:off x="7384415" y="4848860"/>
            <a:ext cx="107950" cy="3092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8" name="Straight Connector 247"/>
          <p:cNvCxnSpPr/>
          <p:nvPr/>
        </p:nvCxnSpPr>
        <p:spPr>
          <a:xfrm flipV="1">
            <a:off x="7492365" y="5155565"/>
            <a:ext cx="1330325" cy="2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9" name="Straight Connector 248"/>
          <p:cNvCxnSpPr/>
          <p:nvPr/>
        </p:nvCxnSpPr>
        <p:spPr>
          <a:xfrm flipV="1">
            <a:off x="8818880" y="4848860"/>
            <a:ext cx="117475" cy="306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0" name="Straight Connector 249"/>
          <p:cNvCxnSpPr/>
          <p:nvPr/>
        </p:nvCxnSpPr>
        <p:spPr>
          <a:xfrm flipV="1">
            <a:off x="8936355" y="4848860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1" name="Straight Connector 250"/>
          <p:cNvCxnSpPr/>
          <p:nvPr/>
        </p:nvCxnSpPr>
        <p:spPr>
          <a:xfrm flipV="1">
            <a:off x="10276205" y="4843145"/>
            <a:ext cx="1062355" cy="57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/>
          <p:nvPr/>
        </p:nvCxnSpPr>
        <p:spPr>
          <a:xfrm flipV="1">
            <a:off x="3375025" y="5701665"/>
            <a:ext cx="1823085" cy="12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3" name="Straight Connector 252"/>
          <p:cNvCxnSpPr/>
          <p:nvPr/>
        </p:nvCxnSpPr>
        <p:spPr>
          <a:xfrm flipH="1">
            <a:off x="5316220" y="3487420"/>
            <a:ext cx="3810" cy="2868930"/>
          </a:xfrm>
          <a:prstGeom prst="line">
            <a:avLst/>
          </a:prstGeom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4" name="Straight Connector 253"/>
          <p:cNvCxnSpPr/>
          <p:nvPr/>
        </p:nvCxnSpPr>
        <p:spPr>
          <a:xfrm flipV="1">
            <a:off x="3373755" y="6041390"/>
            <a:ext cx="1823085" cy="12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5" name="Straight Connector 254"/>
          <p:cNvCxnSpPr/>
          <p:nvPr/>
        </p:nvCxnSpPr>
        <p:spPr>
          <a:xfrm flipV="1">
            <a:off x="5459730" y="5692775"/>
            <a:ext cx="1923415" cy="88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6" name="Straight Connector 255"/>
          <p:cNvCxnSpPr/>
          <p:nvPr/>
        </p:nvCxnSpPr>
        <p:spPr>
          <a:xfrm flipV="1">
            <a:off x="5458460" y="6031230"/>
            <a:ext cx="1914525" cy="10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7" name="Straight Connector 256"/>
          <p:cNvCxnSpPr/>
          <p:nvPr/>
        </p:nvCxnSpPr>
        <p:spPr>
          <a:xfrm flipV="1">
            <a:off x="5196840" y="5698490"/>
            <a:ext cx="276225" cy="3549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8" name="Straight Connector 257"/>
          <p:cNvCxnSpPr/>
          <p:nvPr/>
        </p:nvCxnSpPr>
        <p:spPr>
          <a:xfrm flipH="1" flipV="1">
            <a:off x="5206365" y="5681345"/>
            <a:ext cx="266700" cy="372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9" name="Straight Connector 258"/>
          <p:cNvCxnSpPr/>
          <p:nvPr/>
        </p:nvCxnSpPr>
        <p:spPr>
          <a:xfrm flipH="1">
            <a:off x="9316720" y="3500755"/>
            <a:ext cx="1905" cy="2849245"/>
          </a:xfrm>
          <a:prstGeom prst="line">
            <a:avLst/>
          </a:prstGeom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0" name="Straight Connector 259"/>
          <p:cNvCxnSpPr/>
          <p:nvPr/>
        </p:nvCxnSpPr>
        <p:spPr>
          <a:xfrm flipV="1">
            <a:off x="7368540" y="5680710"/>
            <a:ext cx="1822450" cy="165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1" name="Straight Connector 260"/>
          <p:cNvCxnSpPr/>
          <p:nvPr/>
        </p:nvCxnSpPr>
        <p:spPr>
          <a:xfrm flipV="1">
            <a:off x="7366635" y="6020435"/>
            <a:ext cx="1823085" cy="12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2" name="Straight Connector 261"/>
          <p:cNvCxnSpPr/>
          <p:nvPr/>
        </p:nvCxnSpPr>
        <p:spPr>
          <a:xfrm flipV="1">
            <a:off x="9452610" y="5664835"/>
            <a:ext cx="1877695" cy="15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3" name="Straight Connector 262"/>
          <p:cNvCxnSpPr/>
          <p:nvPr/>
        </p:nvCxnSpPr>
        <p:spPr>
          <a:xfrm flipV="1">
            <a:off x="9451340" y="6003290"/>
            <a:ext cx="1883410" cy="17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4" name="Straight Connector 263"/>
          <p:cNvCxnSpPr/>
          <p:nvPr/>
        </p:nvCxnSpPr>
        <p:spPr>
          <a:xfrm flipV="1">
            <a:off x="9189720" y="5677535"/>
            <a:ext cx="276225" cy="3549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5" name="Straight Connector 264"/>
          <p:cNvCxnSpPr/>
          <p:nvPr/>
        </p:nvCxnSpPr>
        <p:spPr>
          <a:xfrm flipH="1" flipV="1">
            <a:off x="9199245" y="5660390"/>
            <a:ext cx="266700" cy="372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6" name="Straight Connector 265"/>
          <p:cNvCxnSpPr/>
          <p:nvPr/>
        </p:nvCxnSpPr>
        <p:spPr>
          <a:xfrm flipH="1" flipV="1">
            <a:off x="10993120" y="374840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7" name="Straight Connector 266"/>
          <p:cNvCxnSpPr/>
          <p:nvPr/>
        </p:nvCxnSpPr>
        <p:spPr>
          <a:xfrm flipV="1">
            <a:off x="10993755" y="403034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8" name="Text Box 267"/>
          <p:cNvSpPr txBox="1"/>
          <p:nvPr/>
        </p:nvSpPr>
        <p:spPr>
          <a:xfrm>
            <a:off x="2760980" y="3724910"/>
            <a:ext cx="561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clk</a:t>
            </a:r>
            <a:endParaRPr lang="en-US"/>
          </a:p>
        </p:txBody>
      </p:sp>
      <p:sp>
        <p:nvSpPr>
          <p:cNvPr id="269" name="Text Box 268"/>
          <p:cNvSpPr txBox="1"/>
          <p:nvPr/>
        </p:nvSpPr>
        <p:spPr>
          <a:xfrm>
            <a:off x="2347595" y="4385945"/>
            <a:ext cx="1095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Up/Down</a:t>
            </a:r>
            <a:endParaRPr lang="en-US"/>
          </a:p>
        </p:txBody>
      </p:sp>
      <p:sp>
        <p:nvSpPr>
          <p:cNvPr id="270" name="Text Box 269"/>
          <p:cNvSpPr txBox="1"/>
          <p:nvPr/>
        </p:nvSpPr>
        <p:spPr>
          <a:xfrm>
            <a:off x="2574290" y="4912360"/>
            <a:ext cx="748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clk_in</a:t>
            </a:r>
            <a:endParaRPr lang="en-US"/>
          </a:p>
        </p:txBody>
      </p:sp>
      <p:sp>
        <p:nvSpPr>
          <p:cNvPr id="271" name="Text Box 270"/>
          <p:cNvSpPr txBox="1"/>
          <p:nvPr/>
        </p:nvSpPr>
        <p:spPr>
          <a:xfrm>
            <a:off x="2595245" y="5692775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CNT</a:t>
            </a:r>
            <a:endParaRPr lang="en-US"/>
          </a:p>
        </p:txBody>
      </p:sp>
      <p:sp>
        <p:nvSpPr>
          <p:cNvPr id="272" name="Text Box 271"/>
          <p:cNvSpPr txBox="1"/>
          <p:nvPr/>
        </p:nvSpPr>
        <p:spPr>
          <a:xfrm>
            <a:off x="3769995" y="5701665"/>
            <a:ext cx="1079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CNT + 1</a:t>
            </a:r>
            <a:endParaRPr lang="en-US"/>
          </a:p>
        </p:txBody>
      </p:sp>
      <p:sp>
        <p:nvSpPr>
          <p:cNvPr id="273" name="Text Box 272"/>
          <p:cNvSpPr txBox="1"/>
          <p:nvPr/>
        </p:nvSpPr>
        <p:spPr>
          <a:xfrm>
            <a:off x="7095490" y="5677535"/>
            <a:ext cx="685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CNT</a:t>
            </a:r>
            <a:endParaRPr lang="en-US"/>
          </a:p>
        </p:txBody>
      </p:sp>
      <p:sp>
        <p:nvSpPr>
          <p:cNvPr id="274" name="Text Box 273"/>
          <p:cNvSpPr txBox="1"/>
          <p:nvPr/>
        </p:nvSpPr>
        <p:spPr>
          <a:xfrm>
            <a:off x="9995535" y="5664835"/>
            <a:ext cx="1111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CNT - 1</a:t>
            </a:r>
            <a:endParaRPr lang="en-US"/>
          </a:p>
        </p:txBody>
      </p:sp>
      <p:sp>
        <p:nvSpPr>
          <p:cNvPr id="276" name="Text Box 275"/>
          <p:cNvSpPr txBox="1"/>
          <p:nvPr>
            <p:custDataLst>
              <p:tags r:id="rId1"/>
            </p:custDataLst>
          </p:nvPr>
        </p:nvSpPr>
        <p:spPr>
          <a:xfrm>
            <a:off x="0" y="178054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/>
              <a:t>Couter up</a:t>
            </a:r>
            <a:endParaRPr lang="en-US" sz="2800" b="1"/>
          </a:p>
        </p:txBody>
      </p:sp>
      <p:sp>
        <p:nvSpPr>
          <p:cNvPr id="277" name="Text Box 276"/>
          <p:cNvSpPr txBox="1"/>
          <p:nvPr>
            <p:custDataLst>
              <p:tags r:id="rId2"/>
            </p:custDataLst>
          </p:nvPr>
        </p:nvSpPr>
        <p:spPr>
          <a:xfrm>
            <a:off x="0" y="464439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/>
              <a:t>Couter down</a:t>
            </a:r>
            <a:endParaRPr lang="en-US" sz="28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95" name="Straight Connector 194"/>
          <p:cNvCxnSpPr/>
          <p:nvPr>
            <p:custDataLst>
              <p:tags r:id="rId1"/>
            </p:custDataLst>
          </p:nvPr>
        </p:nvCxnSpPr>
        <p:spPr>
          <a:xfrm flipV="1">
            <a:off x="3303905" y="483489"/>
            <a:ext cx="34036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/>
          <p:nvPr>
            <p:custDataLst>
              <p:tags r:id="rId2"/>
            </p:custDataLst>
          </p:nvPr>
        </p:nvCxnSpPr>
        <p:spPr>
          <a:xfrm flipH="1" flipV="1">
            <a:off x="3642360" y="473710"/>
            <a:ext cx="3175" cy="9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>
            <p:custDataLst>
              <p:tags r:id="rId3"/>
            </p:custDataLst>
          </p:nvPr>
        </p:nvCxnSpPr>
        <p:spPr>
          <a:xfrm flipV="1">
            <a:off x="3642995" y="75565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Straight Arrow Connector 197"/>
          <p:cNvCxnSpPr/>
          <p:nvPr>
            <p:custDataLst>
              <p:tags r:id="rId4"/>
            </p:custDataLst>
          </p:nvPr>
        </p:nvCxnSpPr>
        <p:spPr>
          <a:xfrm flipV="1">
            <a:off x="3977005" y="46736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9" name="Straight Connector 198"/>
          <p:cNvCxnSpPr/>
          <p:nvPr>
            <p:custDataLst>
              <p:tags r:id="rId5"/>
            </p:custDataLst>
          </p:nvPr>
        </p:nvCxnSpPr>
        <p:spPr>
          <a:xfrm flipV="1">
            <a:off x="3979545" y="47180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>
            <p:custDataLst>
              <p:tags r:id="rId6"/>
            </p:custDataLst>
          </p:nvPr>
        </p:nvCxnSpPr>
        <p:spPr>
          <a:xfrm flipH="1" flipV="1">
            <a:off x="4306570" y="47371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>
            <p:custDataLst>
              <p:tags r:id="rId7"/>
            </p:custDataLst>
          </p:nvPr>
        </p:nvCxnSpPr>
        <p:spPr>
          <a:xfrm flipV="1">
            <a:off x="4307205" y="75565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2" name="Straight Arrow Connector 201"/>
          <p:cNvCxnSpPr/>
          <p:nvPr>
            <p:custDataLst>
              <p:tags r:id="rId8"/>
            </p:custDataLst>
          </p:nvPr>
        </p:nvCxnSpPr>
        <p:spPr>
          <a:xfrm flipV="1">
            <a:off x="4641215" y="46736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3" name="Straight Connector 202"/>
          <p:cNvCxnSpPr/>
          <p:nvPr>
            <p:custDataLst>
              <p:tags r:id="rId9"/>
            </p:custDataLst>
          </p:nvPr>
        </p:nvCxnSpPr>
        <p:spPr>
          <a:xfrm flipV="1">
            <a:off x="4647565" y="47371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/>
          <p:nvPr>
            <p:custDataLst>
              <p:tags r:id="rId10"/>
            </p:custDataLst>
          </p:nvPr>
        </p:nvCxnSpPr>
        <p:spPr>
          <a:xfrm flipH="1" flipV="1">
            <a:off x="4974590" y="47561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/>
          <p:nvPr>
            <p:custDataLst>
              <p:tags r:id="rId11"/>
            </p:custDataLst>
          </p:nvPr>
        </p:nvCxnSpPr>
        <p:spPr>
          <a:xfrm flipV="1">
            <a:off x="4975225" y="75755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6" name="Straight Arrow Connector 205"/>
          <p:cNvCxnSpPr/>
          <p:nvPr>
            <p:custDataLst>
              <p:tags r:id="rId12"/>
            </p:custDataLst>
          </p:nvPr>
        </p:nvCxnSpPr>
        <p:spPr>
          <a:xfrm flipV="1">
            <a:off x="5309235" y="46926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/>
          <p:nvPr>
            <p:custDataLst>
              <p:tags r:id="rId13"/>
            </p:custDataLst>
          </p:nvPr>
        </p:nvCxnSpPr>
        <p:spPr>
          <a:xfrm flipV="1">
            <a:off x="5311775" y="47371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8" name="Straight Connector 207"/>
          <p:cNvCxnSpPr/>
          <p:nvPr>
            <p:custDataLst>
              <p:tags r:id="rId14"/>
            </p:custDataLst>
          </p:nvPr>
        </p:nvCxnSpPr>
        <p:spPr>
          <a:xfrm flipH="1" flipV="1">
            <a:off x="5638800" y="47561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9" name="Straight Connector 208"/>
          <p:cNvCxnSpPr/>
          <p:nvPr>
            <p:custDataLst>
              <p:tags r:id="rId15"/>
            </p:custDataLst>
          </p:nvPr>
        </p:nvCxnSpPr>
        <p:spPr>
          <a:xfrm flipV="1">
            <a:off x="5639435" y="75755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0" name="Straight Arrow Connector 209"/>
          <p:cNvCxnSpPr/>
          <p:nvPr>
            <p:custDataLst>
              <p:tags r:id="rId16"/>
            </p:custDataLst>
          </p:nvPr>
        </p:nvCxnSpPr>
        <p:spPr>
          <a:xfrm flipV="1">
            <a:off x="5973445" y="46926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>
            <p:custDataLst>
              <p:tags r:id="rId17"/>
            </p:custDataLst>
          </p:nvPr>
        </p:nvCxnSpPr>
        <p:spPr>
          <a:xfrm flipV="1">
            <a:off x="5979795" y="47561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>
            <p:custDataLst>
              <p:tags r:id="rId18"/>
            </p:custDataLst>
          </p:nvPr>
        </p:nvCxnSpPr>
        <p:spPr>
          <a:xfrm flipH="1" flipV="1">
            <a:off x="6306820" y="47752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3" name="Straight Connector 212"/>
          <p:cNvCxnSpPr/>
          <p:nvPr>
            <p:custDataLst>
              <p:tags r:id="rId19"/>
            </p:custDataLst>
          </p:nvPr>
        </p:nvCxnSpPr>
        <p:spPr>
          <a:xfrm flipV="1">
            <a:off x="6307455" y="75946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4" name="Straight Arrow Connector 213"/>
          <p:cNvCxnSpPr/>
          <p:nvPr>
            <p:custDataLst>
              <p:tags r:id="rId20"/>
            </p:custDataLst>
          </p:nvPr>
        </p:nvCxnSpPr>
        <p:spPr>
          <a:xfrm flipV="1">
            <a:off x="6641465" y="47117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5" name="Straight Connector 214"/>
          <p:cNvCxnSpPr/>
          <p:nvPr>
            <p:custDataLst>
              <p:tags r:id="rId21"/>
            </p:custDataLst>
          </p:nvPr>
        </p:nvCxnSpPr>
        <p:spPr>
          <a:xfrm flipV="1">
            <a:off x="6644005" y="47561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/>
          <p:nvPr>
            <p:custDataLst>
              <p:tags r:id="rId22"/>
            </p:custDataLst>
          </p:nvPr>
        </p:nvCxnSpPr>
        <p:spPr>
          <a:xfrm flipH="1" flipV="1">
            <a:off x="6971030" y="47752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>
            <p:custDataLst>
              <p:tags r:id="rId23"/>
            </p:custDataLst>
          </p:nvPr>
        </p:nvCxnSpPr>
        <p:spPr>
          <a:xfrm flipV="1">
            <a:off x="6971665" y="75946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8" name="Straight Arrow Connector 217"/>
          <p:cNvCxnSpPr/>
          <p:nvPr>
            <p:custDataLst>
              <p:tags r:id="rId24"/>
            </p:custDataLst>
          </p:nvPr>
        </p:nvCxnSpPr>
        <p:spPr>
          <a:xfrm flipV="1">
            <a:off x="7305675" y="47117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9" name="Straight Connector 218"/>
          <p:cNvCxnSpPr/>
          <p:nvPr>
            <p:custDataLst>
              <p:tags r:id="rId25"/>
            </p:custDataLst>
          </p:nvPr>
        </p:nvCxnSpPr>
        <p:spPr>
          <a:xfrm flipV="1">
            <a:off x="7312025" y="47752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0" name="Straight Connector 219"/>
          <p:cNvCxnSpPr/>
          <p:nvPr>
            <p:custDataLst>
              <p:tags r:id="rId26"/>
            </p:custDataLst>
          </p:nvPr>
        </p:nvCxnSpPr>
        <p:spPr>
          <a:xfrm flipH="1" flipV="1">
            <a:off x="7639050" y="47942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1" name="Straight Connector 220"/>
          <p:cNvCxnSpPr/>
          <p:nvPr>
            <p:custDataLst>
              <p:tags r:id="rId27"/>
            </p:custDataLst>
          </p:nvPr>
        </p:nvCxnSpPr>
        <p:spPr>
          <a:xfrm flipV="1">
            <a:off x="7639685" y="76136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2" name="Straight Arrow Connector 221"/>
          <p:cNvCxnSpPr/>
          <p:nvPr>
            <p:custDataLst>
              <p:tags r:id="rId28"/>
            </p:custDataLst>
          </p:nvPr>
        </p:nvCxnSpPr>
        <p:spPr>
          <a:xfrm flipV="1">
            <a:off x="7973695" y="47307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>
            <p:custDataLst>
              <p:tags r:id="rId29"/>
            </p:custDataLst>
          </p:nvPr>
        </p:nvCxnSpPr>
        <p:spPr>
          <a:xfrm flipV="1">
            <a:off x="7976235" y="47752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>
            <p:custDataLst>
              <p:tags r:id="rId30"/>
            </p:custDataLst>
          </p:nvPr>
        </p:nvCxnSpPr>
        <p:spPr>
          <a:xfrm flipH="1" flipV="1">
            <a:off x="8303260" y="47942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5" name="Straight Connector 224"/>
          <p:cNvCxnSpPr/>
          <p:nvPr>
            <p:custDataLst>
              <p:tags r:id="rId31"/>
            </p:custDataLst>
          </p:nvPr>
        </p:nvCxnSpPr>
        <p:spPr>
          <a:xfrm flipV="1">
            <a:off x="8303895" y="76136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6" name="Straight Arrow Connector 225"/>
          <p:cNvCxnSpPr/>
          <p:nvPr>
            <p:custDataLst>
              <p:tags r:id="rId32"/>
            </p:custDataLst>
          </p:nvPr>
        </p:nvCxnSpPr>
        <p:spPr>
          <a:xfrm flipV="1">
            <a:off x="8637905" y="47307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>
            <p:custDataLst>
              <p:tags r:id="rId33"/>
            </p:custDataLst>
          </p:nvPr>
        </p:nvCxnSpPr>
        <p:spPr>
          <a:xfrm flipV="1">
            <a:off x="8644255" y="47942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8" name="Straight Connector 227"/>
          <p:cNvCxnSpPr/>
          <p:nvPr>
            <p:custDataLst>
              <p:tags r:id="rId34"/>
            </p:custDataLst>
          </p:nvPr>
        </p:nvCxnSpPr>
        <p:spPr>
          <a:xfrm flipH="1" flipV="1">
            <a:off x="8971280" y="48133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>
            <p:custDataLst>
              <p:tags r:id="rId35"/>
            </p:custDataLst>
          </p:nvPr>
        </p:nvCxnSpPr>
        <p:spPr>
          <a:xfrm flipV="1">
            <a:off x="8971915" y="76327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0" name="Straight Arrow Connector 229"/>
          <p:cNvCxnSpPr/>
          <p:nvPr>
            <p:custDataLst>
              <p:tags r:id="rId36"/>
            </p:custDataLst>
          </p:nvPr>
        </p:nvCxnSpPr>
        <p:spPr>
          <a:xfrm flipV="1">
            <a:off x="9305925" y="47498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1" name="Straight Connector 230"/>
          <p:cNvCxnSpPr/>
          <p:nvPr>
            <p:custDataLst>
              <p:tags r:id="rId37"/>
            </p:custDataLst>
          </p:nvPr>
        </p:nvCxnSpPr>
        <p:spPr>
          <a:xfrm flipV="1">
            <a:off x="9308465" y="47942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2" name="Straight Connector 231"/>
          <p:cNvCxnSpPr/>
          <p:nvPr>
            <p:custDataLst>
              <p:tags r:id="rId38"/>
            </p:custDataLst>
          </p:nvPr>
        </p:nvCxnSpPr>
        <p:spPr>
          <a:xfrm flipH="1" flipV="1">
            <a:off x="9635490" y="48133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3" name="Straight Connector 232"/>
          <p:cNvCxnSpPr/>
          <p:nvPr>
            <p:custDataLst>
              <p:tags r:id="rId39"/>
            </p:custDataLst>
          </p:nvPr>
        </p:nvCxnSpPr>
        <p:spPr>
          <a:xfrm flipV="1">
            <a:off x="9636125" y="76327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4" name="Straight Arrow Connector 233"/>
          <p:cNvCxnSpPr/>
          <p:nvPr>
            <p:custDataLst>
              <p:tags r:id="rId40"/>
            </p:custDataLst>
          </p:nvPr>
        </p:nvCxnSpPr>
        <p:spPr>
          <a:xfrm flipV="1">
            <a:off x="9970135" y="47498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5" name="Straight Connector 234"/>
          <p:cNvCxnSpPr/>
          <p:nvPr>
            <p:custDataLst>
              <p:tags r:id="rId41"/>
            </p:custDataLst>
          </p:nvPr>
        </p:nvCxnSpPr>
        <p:spPr>
          <a:xfrm flipV="1">
            <a:off x="9976485" y="48133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6" name="Straight Connector 235"/>
          <p:cNvCxnSpPr/>
          <p:nvPr>
            <p:custDataLst>
              <p:tags r:id="rId42"/>
            </p:custDataLst>
          </p:nvPr>
        </p:nvCxnSpPr>
        <p:spPr>
          <a:xfrm flipH="1" flipV="1">
            <a:off x="10303510" y="48323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7" name="Straight Connector 236"/>
          <p:cNvCxnSpPr/>
          <p:nvPr>
            <p:custDataLst>
              <p:tags r:id="rId43"/>
            </p:custDataLst>
          </p:nvPr>
        </p:nvCxnSpPr>
        <p:spPr>
          <a:xfrm flipV="1">
            <a:off x="10304145" y="76517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8" name="Straight Arrow Connector 237"/>
          <p:cNvCxnSpPr/>
          <p:nvPr>
            <p:custDataLst>
              <p:tags r:id="rId44"/>
            </p:custDataLst>
          </p:nvPr>
        </p:nvCxnSpPr>
        <p:spPr>
          <a:xfrm flipV="1">
            <a:off x="10638155" y="47688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9" name="Straight Connector 238"/>
          <p:cNvCxnSpPr/>
          <p:nvPr>
            <p:custDataLst>
              <p:tags r:id="rId45"/>
            </p:custDataLst>
          </p:nvPr>
        </p:nvCxnSpPr>
        <p:spPr>
          <a:xfrm flipV="1">
            <a:off x="10640695" y="48133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0" name="Rectangles 239"/>
          <p:cNvSpPr/>
          <p:nvPr>
            <p:custDataLst>
              <p:tags r:id="rId46"/>
            </p:custDataLst>
          </p:nvPr>
        </p:nvSpPr>
        <p:spPr>
          <a:xfrm>
            <a:off x="2002155" y="239395"/>
            <a:ext cx="9581515" cy="28562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42" name="Straight Connector 241"/>
          <p:cNvCxnSpPr/>
          <p:nvPr>
            <p:custDataLst>
              <p:tags r:id="rId47"/>
            </p:custDataLst>
          </p:nvPr>
        </p:nvCxnSpPr>
        <p:spPr>
          <a:xfrm flipV="1">
            <a:off x="3322955" y="1343025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3" name="Straight Connector 242"/>
          <p:cNvCxnSpPr/>
          <p:nvPr>
            <p:custDataLst>
              <p:tags r:id="rId48"/>
            </p:custDataLst>
          </p:nvPr>
        </p:nvCxnSpPr>
        <p:spPr>
          <a:xfrm flipH="1" flipV="1">
            <a:off x="3646170" y="48704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4" name="Straight Connector 243"/>
          <p:cNvCxnSpPr/>
          <p:nvPr>
            <p:custDataLst>
              <p:tags r:id="rId49"/>
            </p:custDataLst>
          </p:nvPr>
        </p:nvCxnSpPr>
        <p:spPr>
          <a:xfrm flipV="1">
            <a:off x="4665980" y="1038225"/>
            <a:ext cx="117475" cy="306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5" name="Straight Connector 244"/>
          <p:cNvCxnSpPr/>
          <p:nvPr>
            <p:custDataLst>
              <p:tags r:id="rId50"/>
            </p:custDataLst>
          </p:nvPr>
        </p:nvCxnSpPr>
        <p:spPr>
          <a:xfrm flipV="1">
            <a:off x="4783455" y="1038225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6" name="Straight Connector 245"/>
          <p:cNvCxnSpPr/>
          <p:nvPr>
            <p:custDataLst>
              <p:tags r:id="rId51"/>
            </p:custDataLst>
          </p:nvPr>
        </p:nvCxnSpPr>
        <p:spPr>
          <a:xfrm flipV="1">
            <a:off x="6123305" y="1026795"/>
            <a:ext cx="1250950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7" name="Straight Connector 246"/>
          <p:cNvCxnSpPr/>
          <p:nvPr>
            <p:custDataLst>
              <p:tags r:id="rId52"/>
            </p:custDataLst>
          </p:nvPr>
        </p:nvCxnSpPr>
        <p:spPr>
          <a:xfrm flipH="1" flipV="1">
            <a:off x="7365365" y="1026795"/>
            <a:ext cx="107950" cy="3092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8" name="Straight Connector 247"/>
          <p:cNvCxnSpPr/>
          <p:nvPr>
            <p:custDataLst>
              <p:tags r:id="rId53"/>
            </p:custDataLst>
          </p:nvPr>
        </p:nvCxnSpPr>
        <p:spPr>
          <a:xfrm flipV="1">
            <a:off x="7473315" y="1333500"/>
            <a:ext cx="1330325" cy="2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9" name="Straight Connector 248"/>
          <p:cNvCxnSpPr/>
          <p:nvPr>
            <p:custDataLst>
              <p:tags r:id="rId54"/>
            </p:custDataLst>
          </p:nvPr>
        </p:nvCxnSpPr>
        <p:spPr>
          <a:xfrm flipV="1">
            <a:off x="8799830" y="1026795"/>
            <a:ext cx="117475" cy="306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0" name="Straight Connector 249"/>
          <p:cNvCxnSpPr/>
          <p:nvPr>
            <p:custDataLst>
              <p:tags r:id="rId55"/>
            </p:custDataLst>
          </p:nvPr>
        </p:nvCxnSpPr>
        <p:spPr>
          <a:xfrm flipV="1">
            <a:off x="8917305" y="1026795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1" name="Straight Connector 250"/>
          <p:cNvCxnSpPr/>
          <p:nvPr>
            <p:custDataLst>
              <p:tags r:id="rId56"/>
            </p:custDataLst>
          </p:nvPr>
        </p:nvCxnSpPr>
        <p:spPr>
          <a:xfrm flipV="1">
            <a:off x="10257155" y="1021080"/>
            <a:ext cx="1062355" cy="57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/>
          <p:nvPr>
            <p:custDataLst>
              <p:tags r:id="rId57"/>
            </p:custDataLst>
          </p:nvPr>
        </p:nvCxnSpPr>
        <p:spPr>
          <a:xfrm flipV="1">
            <a:off x="3348990" y="1699895"/>
            <a:ext cx="1823085" cy="12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3" name="Straight Connector 252"/>
          <p:cNvCxnSpPr/>
          <p:nvPr>
            <p:custDataLst>
              <p:tags r:id="rId58"/>
            </p:custDataLst>
          </p:nvPr>
        </p:nvCxnSpPr>
        <p:spPr>
          <a:xfrm flipH="1">
            <a:off x="5297170" y="227965"/>
            <a:ext cx="3810" cy="2868930"/>
          </a:xfrm>
          <a:prstGeom prst="line">
            <a:avLst/>
          </a:prstGeom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4" name="Straight Connector 253"/>
          <p:cNvCxnSpPr/>
          <p:nvPr>
            <p:custDataLst>
              <p:tags r:id="rId59"/>
            </p:custDataLst>
          </p:nvPr>
        </p:nvCxnSpPr>
        <p:spPr>
          <a:xfrm flipV="1">
            <a:off x="3347720" y="2039620"/>
            <a:ext cx="1823085" cy="12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5" name="Straight Connector 254"/>
          <p:cNvCxnSpPr/>
          <p:nvPr>
            <p:custDataLst>
              <p:tags r:id="rId60"/>
            </p:custDataLst>
          </p:nvPr>
        </p:nvCxnSpPr>
        <p:spPr>
          <a:xfrm flipV="1">
            <a:off x="5433695" y="1691005"/>
            <a:ext cx="1923415" cy="88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6" name="Straight Connector 255"/>
          <p:cNvCxnSpPr/>
          <p:nvPr>
            <p:custDataLst>
              <p:tags r:id="rId61"/>
            </p:custDataLst>
          </p:nvPr>
        </p:nvCxnSpPr>
        <p:spPr>
          <a:xfrm flipV="1">
            <a:off x="5432425" y="2029460"/>
            <a:ext cx="1914525" cy="10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7" name="Straight Connector 256"/>
          <p:cNvCxnSpPr/>
          <p:nvPr>
            <p:custDataLst>
              <p:tags r:id="rId62"/>
            </p:custDataLst>
          </p:nvPr>
        </p:nvCxnSpPr>
        <p:spPr>
          <a:xfrm flipV="1">
            <a:off x="5170805" y="1696720"/>
            <a:ext cx="276225" cy="3549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8" name="Straight Connector 257"/>
          <p:cNvCxnSpPr/>
          <p:nvPr>
            <p:custDataLst>
              <p:tags r:id="rId63"/>
            </p:custDataLst>
          </p:nvPr>
        </p:nvCxnSpPr>
        <p:spPr>
          <a:xfrm flipH="1" flipV="1">
            <a:off x="5180330" y="1679575"/>
            <a:ext cx="266700" cy="372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9" name="Straight Connector 258"/>
          <p:cNvCxnSpPr/>
          <p:nvPr>
            <p:custDataLst>
              <p:tags r:id="rId64"/>
            </p:custDataLst>
          </p:nvPr>
        </p:nvCxnSpPr>
        <p:spPr>
          <a:xfrm flipH="1">
            <a:off x="9297670" y="241300"/>
            <a:ext cx="1905" cy="2849245"/>
          </a:xfrm>
          <a:prstGeom prst="line">
            <a:avLst/>
          </a:prstGeom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0" name="Straight Connector 259"/>
          <p:cNvCxnSpPr/>
          <p:nvPr>
            <p:custDataLst>
              <p:tags r:id="rId65"/>
            </p:custDataLst>
          </p:nvPr>
        </p:nvCxnSpPr>
        <p:spPr>
          <a:xfrm flipV="1">
            <a:off x="7342505" y="1678940"/>
            <a:ext cx="1822450" cy="165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1" name="Straight Connector 260"/>
          <p:cNvCxnSpPr/>
          <p:nvPr>
            <p:custDataLst>
              <p:tags r:id="rId66"/>
            </p:custDataLst>
          </p:nvPr>
        </p:nvCxnSpPr>
        <p:spPr>
          <a:xfrm flipV="1">
            <a:off x="7340600" y="2018665"/>
            <a:ext cx="1823085" cy="12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2" name="Straight Connector 261"/>
          <p:cNvCxnSpPr/>
          <p:nvPr>
            <p:custDataLst>
              <p:tags r:id="rId67"/>
            </p:custDataLst>
          </p:nvPr>
        </p:nvCxnSpPr>
        <p:spPr>
          <a:xfrm flipV="1">
            <a:off x="9426575" y="1663065"/>
            <a:ext cx="1877695" cy="15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3" name="Straight Connector 262"/>
          <p:cNvCxnSpPr/>
          <p:nvPr>
            <p:custDataLst>
              <p:tags r:id="rId68"/>
            </p:custDataLst>
          </p:nvPr>
        </p:nvCxnSpPr>
        <p:spPr>
          <a:xfrm flipV="1">
            <a:off x="9425305" y="2001520"/>
            <a:ext cx="1883410" cy="17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4" name="Straight Connector 263"/>
          <p:cNvCxnSpPr/>
          <p:nvPr>
            <p:custDataLst>
              <p:tags r:id="rId69"/>
            </p:custDataLst>
          </p:nvPr>
        </p:nvCxnSpPr>
        <p:spPr>
          <a:xfrm flipV="1">
            <a:off x="9163685" y="1675765"/>
            <a:ext cx="276225" cy="3549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5" name="Straight Connector 264"/>
          <p:cNvCxnSpPr/>
          <p:nvPr>
            <p:custDataLst>
              <p:tags r:id="rId70"/>
            </p:custDataLst>
          </p:nvPr>
        </p:nvCxnSpPr>
        <p:spPr>
          <a:xfrm flipH="1" flipV="1">
            <a:off x="9173210" y="1658620"/>
            <a:ext cx="266700" cy="372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6" name="Straight Connector 265"/>
          <p:cNvCxnSpPr/>
          <p:nvPr>
            <p:custDataLst>
              <p:tags r:id="rId71"/>
            </p:custDataLst>
          </p:nvPr>
        </p:nvCxnSpPr>
        <p:spPr>
          <a:xfrm flipH="1" flipV="1">
            <a:off x="10974070" y="48895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7" name="Straight Connector 266"/>
          <p:cNvCxnSpPr/>
          <p:nvPr>
            <p:custDataLst>
              <p:tags r:id="rId72"/>
            </p:custDataLst>
          </p:nvPr>
        </p:nvCxnSpPr>
        <p:spPr>
          <a:xfrm flipV="1">
            <a:off x="10974705" y="77089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8" name="Text Box 267"/>
          <p:cNvSpPr txBox="1"/>
          <p:nvPr>
            <p:custDataLst>
              <p:tags r:id="rId73"/>
            </p:custDataLst>
          </p:nvPr>
        </p:nvSpPr>
        <p:spPr>
          <a:xfrm>
            <a:off x="2741930" y="465455"/>
            <a:ext cx="561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clk</a:t>
            </a:r>
            <a:endParaRPr lang="en-US"/>
          </a:p>
        </p:txBody>
      </p:sp>
      <p:sp>
        <p:nvSpPr>
          <p:cNvPr id="270" name="Text Box 269"/>
          <p:cNvSpPr txBox="1"/>
          <p:nvPr>
            <p:custDataLst>
              <p:tags r:id="rId74"/>
            </p:custDataLst>
          </p:nvPr>
        </p:nvSpPr>
        <p:spPr>
          <a:xfrm>
            <a:off x="2555240" y="1090295"/>
            <a:ext cx="748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clk_in</a:t>
            </a:r>
            <a:endParaRPr lang="en-US"/>
          </a:p>
        </p:txBody>
      </p:sp>
      <p:sp>
        <p:nvSpPr>
          <p:cNvPr id="271" name="Text Box 270"/>
          <p:cNvSpPr txBox="1"/>
          <p:nvPr>
            <p:custDataLst>
              <p:tags r:id="rId75"/>
            </p:custDataLst>
          </p:nvPr>
        </p:nvSpPr>
        <p:spPr>
          <a:xfrm>
            <a:off x="2569210" y="1691005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CNT</a:t>
            </a:r>
            <a:endParaRPr lang="en-US"/>
          </a:p>
        </p:txBody>
      </p:sp>
      <p:sp>
        <p:nvSpPr>
          <p:cNvPr id="272" name="Text Box 271"/>
          <p:cNvSpPr txBox="1"/>
          <p:nvPr>
            <p:custDataLst>
              <p:tags r:id="rId76"/>
            </p:custDataLst>
          </p:nvPr>
        </p:nvSpPr>
        <p:spPr>
          <a:xfrm>
            <a:off x="3743960" y="1699895"/>
            <a:ext cx="1079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8’hFF</a:t>
            </a:r>
            <a:endParaRPr lang="en-US"/>
          </a:p>
        </p:txBody>
      </p:sp>
      <p:sp>
        <p:nvSpPr>
          <p:cNvPr id="273" name="Text Box 272"/>
          <p:cNvSpPr txBox="1"/>
          <p:nvPr>
            <p:custDataLst>
              <p:tags r:id="rId77"/>
            </p:custDataLst>
          </p:nvPr>
        </p:nvSpPr>
        <p:spPr>
          <a:xfrm>
            <a:off x="6978015" y="1675765"/>
            <a:ext cx="777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8’h00</a:t>
            </a:r>
            <a:endParaRPr lang="en-US"/>
          </a:p>
        </p:txBody>
      </p:sp>
      <p:sp>
        <p:nvSpPr>
          <p:cNvPr id="274" name="Text Box 273"/>
          <p:cNvSpPr txBox="1"/>
          <p:nvPr>
            <p:custDataLst>
              <p:tags r:id="rId78"/>
            </p:custDataLst>
          </p:nvPr>
        </p:nvSpPr>
        <p:spPr>
          <a:xfrm>
            <a:off x="9969500" y="1663065"/>
            <a:ext cx="1111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CNT + 1</a:t>
            </a:r>
            <a:endParaRPr lang="en-US"/>
          </a:p>
        </p:txBody>
      </p:sp>
      <p:sp>
        <p:nvSpPr>
          <p:cNvPr id="276" name="Text Box 275"/>
          <p:cNvSpPr txBox="1"/>
          <p:nvPr>
            <p:custDataLst>
              <p:tags r:id="rId79"/>
            </p:custDataLst>
          </p:nvPr>
        </p:nvSpPr>
        <p:spPr>
          <a:xfrm>
            <a:off x="146050" y="145859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/>
              <a:t>Overflow</a:t>
            </a:r>
            <a:endParaRPr lang="en-US" sz="2800" b="1"/>
          </a:p>
        </p:txBody>
      </p:sp>
      <p:cxnSp>
        <p:nvCxnSpPr>
          <p:cNvPr id="4" name="Straight Connector 3"/>
          <p:cNvCxnSpPr/>
          <p:nvPr>
            <p:custDataLst>
              <p:tags r:id="rId80"/>
            </p:custDataLst>
          </p:nvPr>
        </p:nvCxnSpPr>
        <p:spPr>
          <a:xfrm flipV="1">
            <a:off x="3348990" y="2700020"/>
            <a:ext cx="2619375" cy="9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>
            <p:custDataLst>
              <p:tags r:id="rId81"/>
            </p:custDataLst>
          </p:nvPr>
        </p:nvCxnSpPr>
        <p:spPr>
          <a:xfrm flipV="1">
            <a:off x="5961380" y="2402205"/>
            <a:ext cx="117475" cy="306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>
            <p:custDataLst>
              <p:tags r:id="rId82"/>
            </p:custDataLst>
          </p:nvPr>
        </p:nvCxnSpPr>
        <p:spPr>
          <a:xfrm flipV="1">
            <a:off x="6078855" y="2402205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>
            <p:custDataLst>
              <p:tags r:id="rId83"/>
            </p:custDataLst>
          </p:nvPr>
        </p:nvCxnSpPr>
        <p:spPr>
          <a:xfrm flipH="1">
            <a:off x="5969635" y="241300"/>
            <a:ext cx="3810" cy="2868930"/>
          </a:xfrm>
          <a:prstGeom prst="line">
            <a:avLst/>
          </a:prstGeom>
          <a:ln w="6350" cap="flat" cmpd="sng" algn="ctr">
            <a:solidFill>
              <a:srgbClr val="FF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>
            <p:custDataLst>
              <p:tags r:id="rId84"/>
            </p:custDataLst>
          </p:nvPr>
        </p:nvCxnSpPr>
        <p:spPr>
          <a:xfrm flipV="1">
            <a:off x="7418705" y="2400935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>
            <p:custDataLst>
              <p:tags r:id="rId85"/>
            </p:custDataLst>
          </p:nvPr>
        </p:nvCxnSpPr>
        <p:spPr>
          <a:xfrm flipV="1">
            <a:off x="8758555" y="2399665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>
            <p:custDataLst>
              <p:tags r:id="rId86"/>
            </p:custDataLst>
          </p:nvPr>
        </p:nvCxnSpPr>
        <p:spPr>
          <a:xfrm flipV="1">
            <a:off x="10098405" y="2381250"/>
            <a:ext cx="1220470" cy="1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>
            <p:custDataLst>
              <p:tags r:id="rId87"/>
            </p:custDataLst>
          </p:nvPr>
        </p:nvCxnSpPr>
        <p:spPr>
          <a:xfrm flipV="1">
            <a:off x="3303905" y="3725799"/>
            <a:ext cx="34036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>
            <p:custDataLst>
              <p:tags r:id="rId88"/>
            </p:custDataLst>
          </p:nvPr>
        </p:nvCxnSpPr>
        <p:spPr>
          <a:xfrm flipH="1" flipV="1">
            <a:off x="3642360" y="3716020"/>
            <a:ext cx="3175" cy="9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>
            <p:custDataLst>
              <p:tags r:id="rId89"/>
            </p:custDataLst>
          </p:nvPr>
        </p:nvCxnSpPr>
        <p:spPr>
          <a:xfrm flipV="1">
            <a:off x="3642995" y="399796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>
            <p:custDataLst>
              <p:tags r:id="rId90"/>
            </p:custDataLst>
          </p:nvPr>
        </p:nvCxnSpPr>
        <p:spPr>
          <a:xfrm flipV="1">
            <a:off x="3977005" y="370967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>
            <p:custDataLst>
              <p:tags r:id="rId91"/>
            </p:custDataLst>
          </p:nvPr>
        </p:nvCxnSpPr>
        <p:spPr>
          <a:xfrm flipV="1">
            <a:off x="3979545" y="371411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>
            <p:custDataLst>
              <p:tags r:id="rId92"/>
            </p:custDataLst>
          </p:nvPr>
        </p:nvCxnSpPr>
        <p:spPr>
          <a:xfrm flipH="1" flipV="1">
            <a:off x="4306570" y="371602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>
            <p:custDataLst>
              <p:tags r:id="rId93"/>
            </p:custDataLst>
          </p:nvPr>
        </p:nvCxnSpPr>
        <p:spPr>
          <a:xfrm flipV="1">
            <a:off x="4307205" y="399796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>
            <p:custDataLst>
              <p:tags r:id="rId94"/>
            </p:custDataLst>
          </p:nvPr>
        </p:nvCxnSpPr>
        <p:spPr>
          <a:xfrm flipV="1">
            <a:off x="4641215" y="370967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>
            <p:custDataLst>
              <p:tags r:id="rId95"/>
            </p:custDataLst>
          </p:nvPr>
        </p:nvCxnSpPr>
        <p:spPr>
          <a:xfrm flipV="1">
            <a:off x="4647565" y="371602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>
            <p:custDataLst>
              <p:tags r:id="rId96"/>
            </p:custDataLst>
          </p:nvPr>
        </p:nvCxnSpPr>
        <p:spPr>
          <a:xfrm flipH="1" flipV="1">
            <a:off x="4974590" y="371792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>
            <p:custDataLst>
              <p:tags r:id="rId97"/>
            </p:custDataLst>
          </p:nvPr>
        </p:nvCxnSpPr>
        <p:spPr>
          <a:xfrm flipV="1">
            <a:off x="4975225" y="399986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>
            <p:custDataLst>
              <p:tags r:id="rId98"/>
            </p:custDataLst>
          </p:nvPr>
        </p:nvCxnSpPr>
        <p:spPr>
          <a:xfrm flipV="1">
            <a:off x="5309235" y="371157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>
            <p:custDataLst>
              <p:tags r:id="rId99"/>
            </p:custDataLst>
          </p:nvPr>
        </p:nvCxnSpPr>
        <p:spPr>
          <a:xfrm flipV="1">
            <a:off x="5311775" y="371602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>
            <p:custDataLst>
              <p:tags r:id="rId100"/>
            </p:custDataLst>
          </p:nvPr>
        </p:nvCxnSpPr>
        <p:spPr>
          <a:xfrm flipH="1" flipV="1">
            <a:off x="5638800" y="371792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>
            <p:custDataLst>
              <p:tags r:id="rId101"/>
            </p:custDataLst>
          </p:nvPr>
        </p:nvCxnSpPr>
        <p:spPr>
          <a:xfrm flipV="1">
            <a:off x="5639435" y="399986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>
            <p:custDataLst>
              <p:tags r:id="rId102"/>
            </p:custDataLst>
          </p:nvPr>
        </p:nvCxnSpPr>
        <p:spPr>
          <a:xfrm flipV="1">
            <a:off x="5973445" y="371157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>
            <p:custDataLst>
              <p:tags r:id="rId103"/>
            </p:custDataLst>
          </p:nvPr>
        </p:nvCxnSpPr>
        <p:spPr>
          <a:xfrm flipV="1">
            <a:off x="5979795" y="371792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>
            <p:custDataLst>
              <p:tags r:id="rId104"/>
            </p:custDataLst>
          </p:nvPr>
        </p:nvCxnSpPr>
        <p:spPr>
          <a:xfrm flipH="1" flipV="1">
            <a:off x="6306820" y="371983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>
            <p:custDataLst>
              <p:tags r:id="rId105"/>
            </p:custDataLst>
          </p:nvPr>
        </p:nvCxnSpPr>
        <p:spPr>
          <a:xfrm flipV="1">
            <a:off x="6307455" y="400177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>
            <p:custDataLst>
              <p:tags r:id="rId106"/>
            </p:custDataLst>
          </p:nvPr>
        </p:nvCxnSpPr>
        <p:spPr>
          <a:xfrm flipV="1">
            <a:off x="6641465" y="371348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>
            <p:custDataLst>
              <p:tags r:id="rId107"/>
            </p:custDataLst>
          </p:nvPr>
        </p:nvCxnSpPr>
        <p:spPr>
          <a:xfrm flipV="1">
            <a:off x="6644005" y="371792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>
            <p:custDataLst>
              <p:tags r:id="rId108"/>
            </p:custDataLst>
          </p:nvPr>
        </p:nvCxnSpPr>
        <p:spPr>
          <a:xfrm flipH="1" flipV="1">
            <a:off x="6971030" y="371983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>
            <p:custDataLst>
              <p:tags r:id="rId109"/>
            </p:custDataLst>
          </p:nvPr>
        </p:nvCxnSpPr>
        <p:spPr>
          <a:xfrm flipV="1">
            <a:off x="6971665" y="400177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>
            <p:custDataLst>
              <p:tags r:id="rId110"/>
            </p:custDataLst>
          </p:nvPr>
        </p:nvCxnSpPr>
        <p:spPr>
          <a:xfrm flipV="1">
            <a:off x="7305675" y="371348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>
            <p:custDataLst>
              <p:tags r:id="rId111"/>
            </p:custDataLst>
          </p:nvPr>
        </p:nvCxnSpPr>
        <p:spPr>
          <a:xfrm flipV="1">
            <a:off x="7312025" y="371983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>
            <p:custDataLst>
              <p:tags r:id="rId112"/>
            </p:custDataLst>
          </p:nvPr>
        </p:nvCxnSpPr>
        <p:spPr>
          <a:xfrm flipH="1" flipV="1">
            <a:off x="7639050" y="372173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>
            <p:custDataLst>
              <p:tags r:id="rId113"/>
            </p:custDataLst>
          </p:nvPr>
        </p:nvCxnSpPr>
        <p:spPr>
          <a:xfrm flipV="1">
            <a:off x="7639685" y="400367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>
            <p:custDataLst>
              <p:tags r:id="rId114"/>
            </p:custDataLst>
          </p:nvPr>
        </p:nvCxnSpPr>
        <p:spPr>
          <a:xfrm flipV="1">
            <a:off x="7973695" y="371538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>
            <p:custDataLst>
              <p:tags r:id="rId115"/>
            </p:custDataLst>
          </p:nvPr>
        </p:nvCxnSpPr>
        <p:spPr>
          <a:xfrm flipV="1">
            <a:off x="7976235" y="371983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>
            <p:custDataLst>
              <p:tags r:id="rId116"/>
            </p:custDataLst>
          </p:nvPr>
        </p:nvCxnSpPr>
        <p:spPr>
          <a:xfrm flipH="1" flipV="1">
            <a:off x="8303260" y="372173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>
            <p:custDataLst>
              <p:tags r:id="rId117"/>
            </p:custDataLst>
          </p:nvPr>
        </p:nvCxnSpPr>
        <p:spPr>
          <a:xfrm flipV="1">
            <a:off x="8303895" y="400367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>
            <p:custDataLst>
              <p:tags r:id="rId118"/>
            </p:custDataLst>
          </p:nvPr>
        </p:nvCxnSpPr>
        <p:spPr>
          <a:xfrm flipV="1">
            <a:off x="8637905" y="371538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>
            <p:custDataLst>
              <p:tags r:id="rId119"/>
            </p:custDataLst>
          </p:nvPr>
        </p:nvCxnSpPr>
        <p:spPr>
          <a:xfrm flipV="1">
            <a:off x="8644255" y="372173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>
            <p:custDataLst>
              <p:tags r:id="rId120"/>
            </p:custDataLst>
          </p:nvPr>
        </p:nvCxnSpPr>
        <p:spPr>
          <a:xfrm flipH="1" flipV="1">
            <a:off x="8971280" y="372364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>
            <p:custDataLst>
              <p:tags r:id="rId121"/>
            </p:custDataLst>
          </p:nvPr>
        </p:nvCxnSpPr>
        <p:spPr>
          <a:xfrm flipV="1">
            <a:off x="8971915" y="400558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>
            <p:custDataLst>
              <p:tags r:id="rId122"/>
            </p:custDataLst>
          </p:nvPr>
        </p:nvCxnSpPr>
        <p:spPr>
          <a:xfrm flipV="1">
            <a:off x="9305925" y="371729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>
            <p:custDataLst>
              <p:tags r:id="rId123"/>
            </p:custDataLst>
          </p:nvPr>
        </p:nvCxnSpPr>
        <p:spPr>
          <a:xfrm flipV="1">
            <a:off x="9308465" y="372173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>
            <p:custDataLst>
              <p:tags r:id="rId124"/>
            </p:custDataLst>
          </p:nvPr>
        </p:nvCxnSpPr>
        <p:spPr>
          <a:xfrm flipH="1" flipV="1">
            <a:off x="9635490" y="372364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>
            <p:custDataLst>
              <p:tags r:id="rId125"/>
            </p:custDataLst>
          </p:nvPr>
        </p:nvCxnSpPr>
        <p:spPr>
          <a:xfrm flipV="1">
            <a:off x="9636125" y="400558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>
            <p:custDataLst>
              <p:tags r:id="rId126"/>
            </p:custDataLst>
          </p:nvPr>
        </p:nvCxnSpPr>
        <p:spPr>
          <a:xfrm flipV="1">
            <a:off x="9970135" y="3717290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>
            <p:custDataLst>
              <p:tags r:id="rId127"/>
            </p:custDataLst>
          </p:nvPr>
        </p:nvCxnSpPr>
        <p:spPr>
          <a:xfrm flipV="1">
            <a:off x="9976485" y="372364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>
            <p:custDataLst>
              <p:tags r:id="rId128"/>
            </p:custDataLst>
          </p:nvPr>
        </p:nvCxnSpPr>
        <p:spPr>
          <a:xfrm flipH="1" flipV="1">
            <a:off x="10303510" y="372554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>
            <p:custDataLst>
              <p:tags r:id="rId129"/>
            </p:custDataLst>
          </p:nvPr>
        </p:nvCxnSpPr>
        <p:spPr>
          <a:xfrm flipV="1">
            <a:off x="10304145" y="4007485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>
            <p:custDataLst>
              <p:tags r:id="rId130"/>
            </p:custDataLst>
          </p:nvPr>
        </p:nvCxnSpPr>
        <p:spPr>
          <a:xfrm flipV="1">
            <a:off x="10638155" y="3719195"/>
            <a:ext cx="254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>
            <p:custDataLst>
              <p:tags r:id="rId131"/>
            </p:custDataLst>
          </p:nvPr>
        </p:nvCxnSpPr>
        <p:spPr>
          <a:xfrm flipV="1">
            <a:off x="10640695" y="372364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Rectangles 55"/>
          <p:cNvSpPr/>
          <p:nvPr>
            <p:custDataLst>
              <p:tags r:id="rId132"/>
            </p:custDataLst>
          </p:nvPr>
        </p:nvSpPr>
        <p:spPr>
          <a:xfrm>
            <a:off x="2002155" y="3481705"/>
            <a:ext cx="9581515" cy="28562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57" name="Straight Connector 56"/>
          <p:cNvCxnSpPr/>
          <p:nvPr>
            <p:custDataLst>
              <p:tags r:id="rId133"/>
            </p:custDataLst>
          </p:nvPr>
        </p:nvCxnSpPr>
        <p:spPr>
          <a:xfrm flipV="1">
            <a:off x="3322955" y="4585335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>
            <p:custDataLst>
              <p:tags r:id="rId134"/>
            </p:custDataLst>
          </p:nvPr>
        </p:nvCxnSpPr>
        <p:spPr>
          <a:xfrm flipH="1" flipV="1">
            <a:off x="3646170" y="3729355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>
            <p:custDataLst>
              <p:tags r:id="rId135"/>
            </p:custDataLst>
          </p:nvPr>
        </p:nvCxnSpPr>
        <p:spPr>
          <a:xfrm flipV="1">
            <a:off x="4665980" y="4280535"/>
            <a:ext cx="117475" cy="306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>
            <p:custDataLst>
              <p:tags r:id="rId136"/>
            </p:custDataLst>
          </p:nvPr>
        </p:nvCxnSpPr>
        <p:spPr>
          <a:xfrm flipV="1">
            <a:off x="4783455" y="4280535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>
            <p:custDataLst>
              <p:tags r:id="rId137"/>
            </p:custDataLst>
          </p:nvPr>
        </p:nvCxnSpPr>
        <p:spPr>
          <a:xfrm flipV="1">
            <a:off x="6123305" y="4269105"/>
            <a:ext cx="1250950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>
            <p:custDataLst>
              <p:tags r:id="rId138"/>
            </p:custDataLst>
          </p:nvPr>
        </p:nvCxnSpPr>
        <p:spPr>
          <a:xfrm flipH="1" flipV="1">
            <a:off x="7365365" y="4269105"/>
            <a:ext cx="107950" cy="3092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>
            <p:custDataLst>
              <p:tags r:id="rId139"/>
            </p:custDataLst>
          </p:nvPr>
        </p:nvCxnSpPr>
        <p:spPr>
          <a:xfrm flipV="1">
            <a:off x="7473315" y="4575810"/>
            <a:ext cx="1330325" cy="2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>
            <p:custDataLst>
              <p:tags r:id="rId140"/>
            </p:custDataLst>
          </p:nvPr>
        </p:nvCxnSpPr>
        <p:spPr>
          <a:xfrm flipV="1">
            <a:off x="8799830" y="4269105"/>
            <a:ext cx="117475" cy="306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>
            <p:custDataLst>
              <p:tags r:id="rId141"/>
            </p:custDataLst>
          </p:nvPr>
        </p:nvCxnSpPr>
        <p:spPr>
          <a:xfrm flipV="1">
            <a:off x="8917305" y="4269105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>
            <p:custDataLst>
              <p:tags r:id="rId142"/>
            </p:custDataLst>
          </p:nvPr>
        </p:nvCxnSpPr>
        <p:spPr>
          <a:xfrm flipV="1">
            <a:off x="10257155" y="4263390"/>
            <a:ext cx="1062355" cy="57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>
            <p:custDataLst>
              <p:tags r:id="rId143"/>
            </p:custDataLst>
          </p:nvPr>
        </p:nvCxnSpPr>
        <p:spPr>
          <a:xfrm flipV="1">
            <a:off x="3357245" y="4937760"/>
            <a:ext cx="1823085" cy="12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>
            <p:custDataLst>
              <p:tags r:id="rId144"/>
            </p:custDataLst>
          </p:nvPr>
        </p:nvCxnSpPr>
        <p:spPr>
          <a:xfrm flipH="1">
            <a:off x="5297170" y="3470275"/>
            <a:ext cx="3810" cy="2868930"/>
          </a:xfrm>
          <a:prstGeom prst="line">
            <a:avLst/>
          </a:prstGeom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>
            <p:custDataLst>
              <p:tags r:id="rId145"/>
            </p:custDataLst>
          </p:nvPr>
        </p:nvCxnSpPr>
        <p:spPr>
          <a:xfrm flipV="1">
            <a:off x="3347720" y="5281930"/>
            <a:ext cx="1823085" cy="12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>
            <p:custDataLst>
              <p:tags r:id="rId146"/>
            </p:custDataLst>
          </p:nvPr>
        </p:nvCxnSpPr>
        <p:spPr>
          <a:xfrm flipV="1">
            <a:off x="5433695" y="4933315"/>
            <a:ext cx="1923415" cy="88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>
            <p:custDataLst>
              <p:tags r:id="rId147"/>
            </p:custDataLst>
          </p:nvPr>
        </p:nvCxnSpPr>
        <p:spPr>
          <a:xfrm flipV="1">
            <a:off x="5432425" y="5271770"/>
            <a:ext cx="1914525" cy="10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>
            <p:custDataLst>
              <p:tags r:id="rId148"/>
            </p:custDataLst>
          </p:nvPr>
        </p:nvCxnSpPr>
        <p:spPr>
          <a:xfrm flipV="1">
            <a:off x="5170805" y="4939030"/>
            <a:ext cx="276225" cy="3549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>
            <p:custDataLst>
              <p:tags r:id="rId149"/>
            </p:custDataLst>
          </p:nvPr>
        </p:nvCxnSpPr>
        <p:spPr>
          <a:xfrm flipH="1" flipV="1">
            <a:off x="5180330" y="4921885"/>
            <a:ext cx="266700" cy="372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>
            <p:custDataLst>
              <p:tags r:id="rId150"/>
            </p:custDataLst>
          </p:nvPr>
        </p:nvCxnSpPr>
        <p:spPr>
          <a:xfrm flipH="1">
            <a:off x="9297670" y="3483610"/>
            <a:ext cx="1905" cy="2849245"/>
          </a:xfrm>
          <a:prstGeom prst="line">
            <a:avLst/>
          </a:prstGeom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>
            <p:custDataLst>
              <p:tags r:id="rId151"/>
            </p:custDataLst>
          </p:nvPr>
        </p:nvCxnSpPr>
        <p:spPr>
          <a:xfrm flipV="1">
            <a:off x="7342505" y="4921250"/>
            <a:ext cx="1822450" cy="165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>
            <p:custDataLst>
              <p:tags r:id="rId152"/>
            </p:custDataLst>
          </p:nvPr>
        </p:nvCxnSpPr>
        <p:spPr>
          <a:xfrm flipV="1">
            <a:off x="7340600" y="5260975"/>
            <a:ext cx="1823085" cy="12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>
            <p:custDataLst>
              <p:tags r:id="rId153"/>
            </p:custDataLst>
          </p:nvPr>
        </p:nvCxnSpPr>
        <p:spPr>
          <a:xfrm flipV="1">
            <a:off x="9426575" y="4905375"/>
            <a:ext cx="1877695" cy="15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>
            <p:custDataLst>
              <p:tags r:id="rId154"/>
            </p:custDataLst>
          </p:nvPr>
        </p:nvCxnSpPr>
        <p:spPr>
          <a:xfrm flipV="1">
            <a:off x="9425305" y="5243830"/>
            <a:ext cx="1883410" cy="171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>
            <p:custDataLst>
              <p:tags r:id="rId155"/>
            </p:custDataLst>
          </p:nvPr>
        </p:nvCxnSpPr>
        <p:spPr>
          <a:xfrm flipV="1">
            <a:off x="9163685" y="4918075"/>
            <a:ext cx="276225" cy="3549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>
            <p:custDataLst>
              <p:tags r:id="rId156"/>
            </p:custDataLst>
          </p:nvPr>
        </p:nvCxnSpPr>
        <p:spPr>
          <a:xfrm flipH="1" flipV="1">
            <a:off x="9173210" y="4900930"/>
            <a:ext cx="266700" cy="372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>
            <p:custDataLst>
              <p:tags r:id="rId157"/>
            </p:custDataLst>
          </p:nvPr>
        </p:nvCxnSpPr>
        <p:spPr>
          <a:xfrm flipH="1" flipV="1">
            <a:off x="10974070" y="3731260"/>
            <a:ext cx="3175" cy="283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>
            <p:custDataLst>
              <p:tags r:id="rId158"/>
            </p:custDataLst>
          </p:nvPr>
        </p:nvCxnSpPr>
        <p:spPr>
          <a:xfrm flipV="1">
            <a:off x="10974705" y="4013200"/>
            <a:ext cx="3340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Text Box 82"/>
          <p:cNvSpPr txBox="1"/>
          <p:nvPr>
            <p:custDataLst>
              <p:tags r:id="rId159"/>
            </p:custDataLst>
          </p:nvPr>
        </p:nvSpPr>
        <p:spPr>
          <a:xfrm>
            <a:off x="2741930" y="3707765"/>
            <a:ext cx="561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clk</a:t>
            </a:r>
            <a:endParaRPr lang="en-US"/>
          </a:p>
        </p:txBody>
      </p:sp>
      <p:sp>
        <p:nvSpPr>
          <p:cNvPr id="84" name="Text Box 83"/>
          <p:cNvSpPr txBox="1"/>
          <p:nvPr>
            <p:custDataLst>
              <p:tags r:id="rId160"/>
            </p:custDataLst>
          </p:nvPr>
        </p:nvSpPr>
        <p:spPr>
          <a:xfrm>
            <a:off x="2555240" y="4332605"/>
            <a:ext cx="748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clk_in</a:t>
            </a:r>
            <a:endParaRPr lang="en-US"/>
          </a:p>
        </p:txBody>
      </p:sp>
      <p:sp>
        <p:nvSpPr>
          <p:cNvPr id="85" name="Text Box 84"/>
          <p:cNvSpPr txBox="1"/>
          <p:nvPr>
            <p:custDataLst>
              <p:tags r:id="rId161"/>
            </p:custDataLst>
          </p:nvPr>
        </p:nvSpPr>
        <p:spPr>
          <a:xfrm>
            <a:off x="2569210" y="4933315"/>
            <a:ext cx="63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CNT</a:t>
            </a:r>
            <a:endParaRPr lang="en-US"/>
          </a:p>
        </p:txBody>
      </p:sp>
      <p:sp>
        <p:nvSpPr>
          <p:cNvPr id="86" name="Text Box 85"/>
          <p:cNvSpPr txBox="1"/>
          <p:nvPr>
            <p:custDataLst>
              <p:tags r:id="rId162"/>
            </p:custDataLst>
          </p:nvPr>
        </p:nvSpPr>
        <p:spPr>
          <a:xfrm>
            <a:off x="3743960" y="4942205"/>
            <a:ext cx="1079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8’h00</a:t>
            </a:r>
            <a:endParaRPr lang="en-US"/>
          </a:p>
        </p:txBody>
      </p:sp>
      <p:sp>
        <p:nvSpPr>
          <p:cNvPr id="87" name="Text Box 86"/>
          <p:cNvSpPr txBox="1"/>
          <p:nvPr>
            <p:custDataLst>
              <p:tags r:id="rId163"/>
            </p:custDataLst>
          </p:nvPr>
        </p:nvSpPr>
        <p:spPr>
          <a:xfrm>
            <a:off x="6978015" y="4918075"/>
            <a:ext cx="777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8’hFF</a:t>
            </a:r>
            <a:endParaRPr lang="en-US"/>
          </a:p>
        </p:txBody>
      </p:sp>
      <p:sp>
        <p:nvSpPr>
          <p:cNvPr id="88" name="Text Box 87"/>
          <p:cNvSpPr txBox="1"/>
          <p:nvPr>
            <p:custDataLst>
              <p:tags r:id="rId164"/>
            </p:custDataLst>
          </p:nvPr>
        </p:nvSpPr>
        <p:spPr>
          <a:xfrm>
            <a:off x="9969500" y="4905375"/>
            <a:ext cx="1111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CNT + 1</a:t>
            </a:r>
            <a:endParaRPr lang="en-US"/>
          </a:p>
        </p:txBody>
      </p:sp>
      <p:sp>
        <p:nvSpPr>
          <p:cNvPr id="89" name="Text Box 88"/>
          <p:cNvSpPr txBox="1"/>
          <p:nvPr>
            <p:custDataLst>
              <p:tags r:id="rId165"/>
            </p:custDataLst>
          </p:nvPr>
        </p:nvSpPr>
        <p:spPr>
          <a:xfrm>
            <a:off x="146050" y="47009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/>
              <a:t>Underflow</a:t>
            </a:r>
            <a:endParaRPr lang="en-US" sz="2800" b="1"/>
          </a:p>
        </p:txBody>
      </p:sp>
      <p:cxnSp>
        <p:nvCxnSpPr>
          <p:cNvPr id="90" name="Straight Connector 89"/>
          <p:cNvCxnSpPr/>
          <p:nvPr>
            <p:custDataLst>
              <p:tags r:id="rId166"/>
            </p:custDataLst>
          </p:nvPr>
        </p:nvCxnSpPr>
        <p:spPr>
          <a:xfrm flipV="1">
            <a:off x="3348990" y="5942330"/>
            <a:ext cx="2619375" cy="9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>
            <p:custDataLst>
              <p:tags r:id="rId167"/>
            </p:custDataLst>
          </p:nvPr>
        </p:nvCxnSpPr>
        <p:spPr>
          <a:xfrm flipV="1">
            <a:off x="5961380" y="5644515"/>
            <a:ext cx="117475" cy="306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>
            <p:custDataLst>
              <p:tags r:id="rId168"/>
            </p:custDataLst>
          </p:nvPr>
        </p:nvCxnSpPr>
        <p:spPr>
          <a:xfrm flipV="1">
            <a:off x="6078855" y="5644515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>
            <p:custDataLst>
              <p:tags r:id="rId169"/>
            </p:custDataLst>
          </p:nvPr>
        </p:nvCxnSpPr>
        <p:spPr>
          <a:xfrm flipH="1">
            <a:off x="5969635" y="3483610"/>
            <a:ext cx="3810" cy="2868930"/>
          </a:xfrm>
          <a:prstGeom prst="line">
            <a:avLst/>
          </a:prstGeom>
          <a:ln w="6350" cap="flat" cmpd="sng" algn="ctr">
            <a:solidFill>
              <a:srgbClr val="FF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>
            <p:custDataLst>
              <p:tags r:id="rId170"/>
            </p:custDataLst>
          </p:nvPr>
        </p:nvCxnSpPr>
        <p:spPr>
          <a:xfrm flipV="1">
            <a:off x="7418705" y="5643245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>
            <p:custDataLst>
              <p:tags r:id="rId171"/>
            </p:custDataLst>
          </p:nvPr>
        </p:nvCxnSpPr>
        <p:spPr>
          <a:xfrm flipV="1">
            <a:off x="8758555" y="5641975"/>
            <a:ext cx="13398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>
            <p:custDataLst>
              <p:tags r:id="rId172"/>
            </p:custDataLst>
          </p:nvPr>
        </p:nvCxnSpPr>
        <p:spPr>
          <a:xfrm flipV="1">
            <a:off x="10098405" y="5623560"/>
            <a:ext cx="1220470" cy="18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8" name="Text Box 97"/>
          <p:cNvSpPr txBox="1"/>
          <p:nvPr/>
        </p:nvSpPr>
        <p:spPr>
          <a:xfrm>
            <a:off x="2002155" y="2520315"/>
            <a:ext cx="1647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TMR_OVF[0]</a:t>
            </a:r>
            <a:endParaRPr lang="en-US"/>
          </a:p>
        </p:txBody>
      </p:sp>
      <p:sp>
        <p:nvSpPr>
          <p:cNvPr id="99" name="Text Box 98"/>
          <p:cNvSpPr txBox="1"/>
          <p:nvPr/>
        </p:nvSpPr>
        <p:spPr>
          <a:xfrm>
            <a:off x="2002155" y="5762625"/>
            <a:ext cx="1647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TMR_UDF[1]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TABLE_ENDDRAG_ORIGIN_RECT" val="479*78"/>
  <p:tag name="TABLE_ENDDRAG_RECT" val="209*457*479*78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1962</Words>
  <Application>WPS Presentation</Application>
  <PresentationFormat>Widescreen</PresentationFormat>
  <Paragraphs>402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Times New Roman</vt:lpstr>
      <vt:lpstr>Helvetica</vt:lpstr>
      <vt:lpstr>Segoe UI Historic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Minh Quân</cp:lastModifiedBy>
  <cp:revision>42</cp:revision>
  <dcterms:created xsi:type="dcterms:W3CDTF">2024-08-04T05:04:00Z</dcterms:created>
  <dcterms:modified xsi:type="dcterms:W3CDTF">2026-03-11T07:33:45Z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124BDBB2CF6E4331885B4421E8F7EBCB_11</vt:lpwstr>
  </property>
  <property fmtid="{D5CDD505-2E9C-101B-9397-08002B2CF9AE}" pid="3" name="KSOProductBuildVer">
    <vt:lpwstr>1033-12.1.0.25242</vt:lpwstr>
  </property>
</Properties>
</file>